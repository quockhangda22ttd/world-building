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7" r:id="rId9"/>
    <p:sldId id="270" r:id="rId10"/>
    <p:sldId id="271" r:id="rId11"/>
    <p:sldId id="264" r:id="rId12"/>
    <p:sldId id="268" r:id="rId13"/>
    <p:sldId id="269" r:id="rId14"/>
    <p:sldId id="265" r:id="rId15"/>
    <p:sldId id="266" r:id="rId16"/>
  </p:sldIdLst>
  <p:sldSz cx="18288000" cy="10287000"/>
  <p:notesSz cx="6858000" cy="9144000"/>
  <p:embeddedFontLst>
    <p:embeddedFont>
      <p:font typeface="Bryndan Write"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1200" y="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8FE87C-9D36-4E38-A647-3A689E8B5C8D}" type="doc">
      <dgm:prSet loTypeId="urn:microsoft.com/office/officeart/2005/8/layout/vProcess5" loCatId="process" qsTypeId="urn:microsoft.com/office/officeart/2005/8/quickstyle/simple1" qsCatId="simple" csTypeId="urn:microsoft.com/office/officeart/2005/8/colors/accent1_1" csCatId="accent1" phldr="1"/>
      <dgm:spPr/>
      <dgm:t>
        <a:bodyPr/>
        <a:lstStyle/>
        <a:p>
          <a:endParaRPr lang="en-US"/>
        </a:p>
      </dgm:t>
    </dgm:pt>
    <dgm:pt modelId="{736AD4F0-32B7-44C2-826E-DBBC8524ADA6}">
      <dgm:prSet custT="1"/>
      <dgm:spPr/>
      <dgm:t>
        <a:bodyPr/>
        <a:lstStyle/>
        <a:p>
          <a:pPr algn="ctr"/>
          <a:r>
            <a:rPr lang="en-US" sz="2400" b="0" i="0" baseline="0" dirty="0" err="1"/>
            <a:t>Xây</a:t>
          </a:r>
          <a:r>
            <a:rPr lang="en-US" sz="2400" b="0" i="0" baseline="0" dirty="0"/>
            <a:t> </a:t>
          </a:r>
          <a:r>
            <a:rPr lang="en-US" sz="2400" b="0" i="0" baseline="0" dirty="0" err="1"/>
            <a:t>dựng</a:t>
          </a:r>
          <a:r>
            <a:rPr lang="en-US" sz="2400" b="0" i="0" baseline="0" dirty="0"/>
            <a:t> </a:t>
          </a:r>
          <a:r>
            <a:rPr lang="en-US" sz="2400" b="0" i="0" baseline="0" dirty="0" err="1"/>
            <a:t>được</a:t>
          </a:r>
          <a:r>
            <a:rPr lang="en-US" sz="2400" b="0" i="0" baseline="0" dirty="0"/>
            <a:t> </a:t>
          </a:r>
          <a:r>
            <a:rPr lang="en-US" sz="2400" b="0" i="0" baseline="0" dirty="0" err="1"/>
            <a:t>hệ</a:t>
          </a:r>
          <a:r>
            <a:rPr lang="en-US" sz="2400" b="0" i="0" baseline="0" dirty="0"/>
            <a:t> </a:t>
          </a:r>
          <a:r>
            <a:rPr lang="en-US" sz="2400" b="0" i="0" baseline="0" dirty="0" err="1"/>
            <a:t>thống</a:t>
          </a:r>
          <a:r>
            <a:rPr lang="en-US" sz="2400" b="0" i="0" baseline="0" dirty="0"/>
            <a:t> </a:t>
          </a:r>
          <a:r>
            <a:rPr lang="en-US" sz="2400" b="0" i="0" baseline="0" dirty="0" err="1"/>
            <a:t>quản</a:t>
          </a:r>
          <a:r>
            <a:rPr lang="en-US" sz="2400" b="0" i="0" baseline="0" dirty="0"/>
            <a:t> </a:t>
          </a:r>
          <a:r>
            <a:rPr lang="en-US" sz="2400" b="0" i="0" baseline="0" dirty="0" err="1"/>
            <a:t>lý</a:t>
          </a:r>
          <a:r>
            <a:rPr lang="en-US" sz="2400" b="0" i="0" baseline="0" dirty="0"/>
            <a:t> </a:t>
          </a:r>
          <a:r>
            <a:rPr lang="en-US" sz="2400" b="0" i="0" baseline="0" dirty="0" err="1"/>
            <a:t>thế</a:t>
          </a:r>
          <a:r>
            <a:rPr lang="en-US" sz="2400" b="0" i="0" baseline="0" dirty="0"/>
            <a:t> </a:t>
          </a:r>
          <a:r>
            <a:rPr lang="en-US" sz="2400" b="0" i="0" baseline="0" dirty="0" err="1"/>
            <a:t>giới</a:t>
          </a:r>
          <a:r>
            <a:rPr lang="en-US" sz="2400" b="0" i="0" baseline="0" dirty="0"/>
            <a:t> </a:t>
          </a:r>
          <a:r>
            <a:rPr lang="en-US" sz="2400" b="0" i="0" baseline="0" dirty="0" err="1"/>
            <a:t>ảo</a:t>
          </a:r>
          <a:r>
            <a:rPr lang="en-US" sz="2400" b="0" i="0" baseline="0" dirty="0"/>
            <a:t> </a:t>
          </a:r>
          <a:r>
            <a:rPr lang="en-US" sz="2400" b="0" i="0" baseline="0" dirty="0" err="1"/>
            <a:t>trong</a:t>
          </a:r>
          <a:r>
            <a:rPr lang="en-US" sz="2400" b="0" i="0" baseline="0" dirty="0"/>
            <a:t> </a:t>
          </a:r>
          <a:r>
            <a:rPr lang="en-US" sz="2400" b="0" i="0" baseline="0" dirty="0" err="1"/>
            <a:t>truyện</a:t>
          </a:r>
          <a:r>
            <a:rPr lang="en-US" sz="2400" b="0" i="0" baseline="0" dirty="0"/>
            <a:t> online </a:t>
          </a:r>
          <a:r>
            <a:rPr lang="en-US" sz="2400" b="0" i="0" baseline="0" dirty="0" err="1"/>
            <a:t>hoàn</a:t>
          </a:r>
          <a:r>
            <a:rPr lang="en-US" sz="2400" b="0" i="0" baseline="0" dirty="0"/>
            <a:t> </a:t>
          </a:r>
          <a:r>
            <a:rPr lang="en-US" sz="2400" b="0" i="0" baseline="0" dirty="0" err="1"/>
            <a:t>chỉnh</a:t>
          </a:r>
          <a:r>
            <a:rPr lang="en-US" sz="2400" b="0" i="0" baseline="0" dirty="0"/>
            <a:t> </a:t>
          </a:r>
          <a:endParaRPr lang="en-US" sz="2400" dirty="0"/>
        </a:p>
      </dgm:t>
    </dgm:pt>
    <dgm:pt modelId="{04B37E59-BEFF-47C3-A56C-0E22EF8EB0B1}" type="parTrans" cxnId="{EB7A3468-06AD-4EAA-8079-4446ACAD918F}">
      <dgm:prSet/>
      <dgm:spPr/>
      <dgm:t>
        <a:bodyPr/>
        <a:lstStyle/>
        <a:p>
          <a:endParaRPr lang="en-US"/>
        </a:p>
      </dgm:t>
    </dgm:pt>
    <dgm:pt modelId="{25543D35-FD6B-465A-B10A-EC3270CA81ED}" type="sibTrans" cxnId="{EB7A3468-06AD-4EAA-8079-4446ACAD918F}">
      <dgm:prSet/>
      <dgm:spPr/>
      <dgm:t>
        <a:bodyPr/>
        <a:lstStyle/>
        <a:p>
          <a:endParaRPr lang="en-US"/>
        </a:p>
      </dgm:t>
    </dgm:pt>
    <dgm:pt modelId="{590170A6-721B-4084-B215-CFD82B3910DC}">
      <dgm:prSet custT="1"/>
      <dgm:spPr/>
      <dgm:t>
        <a:bodyPr/>
        <a:lstStyle/>
        <a:p>
          <a:pPr algn="ctr"/>
          <a:r>
            <a:rPr lang="en-US" sz="2400" b="0" i="0" baseline="0"/>
            <a:t>Quản lý thế giới, thực thể và mối quan hệ hiệu quả </a:t>
          </a:r>
          <a:endParaRPr lang="en-US" sz="2400"/>
        </a:p>
      </dgm:t>
    </dgm:pt>
    <dgm:pt modelId="{259D1088-9717-406D-B04B-4D4A03FE966A}" type="parTrans" cxnId="{17215375-1535-43A5-85E7-976B7801CDE9}">
      <dgm:prSet/>
      <dgm:spPr/>
      <dgm:t>
        <a:bodyPr/>
        <a:lstStyle/>
        <a:p>
          <a:endParaRPr lang="en-US"/>
        </a:p>
      </dgm:t>
    </dgm:pt>
    <dgm:pt modelId="{7C9FC440-94B0-44E7-8839-43B0C1A18617}" type="sibTrans" cxnId="{17215375-1535-43A5-85E7-976B7801CDE9}">
      <dgm:prSet/>
      <dgm:spPr/>
      <dgm:t>
        <a:bodyPr/>
        <a:lstStyle/>
        <a:p>
          <a:endParaRPr lang="en-US"/>
        </a:p>
      </dgm:t>
    </dgm:pt>
    <dgm:pt modelId="{36A3B360-3B20-40FB-9DAC-B30382EE4FB4}">
      <dgm:prSet custT="1"/>
      <dgm:spPr/>
      <dgm:t>
        <a:bodyPr/>
        <a:lstStyle/>
        <a:p>
          <a:pPr algn="ctr"/>
          <a:r>
            <a:rPr lang="en-US" sz="2400" b="0" i="0" baseline="0" dirty="0" err="1"/>
            <a:t>Giảm</a:t>
          </a:r>
          <a:r>
            <a:rPr lang="en-US" sz="2400" b="0" i="0" baseline="0" dirty="0"/>
            <a:t> </a:t>
          </a:r>
          <a:r>
            <a:rPr lang="en-US" sz="2400" b="0" i="0" baseline="0" dirty="0" err="1"/>
            <a:t>sai</a:t>
          </a:r>
          <a:r>
            <a:rPr lang="en-US" sz="2400" b="0" i="0" baseline="0" dirty="0"/>
            <a:t> </a:t>
          </a:r>
          <a:r>
            <a:rPr lang="en-US" sz="2400" b="0" i="0" baseline="0" dirty="0" err="1"/>
            <a:t>sót</a:t>
          </a:r>
          <a:r>
            <a:rPr lang="en-US" sz="2400" b="0" i="0" baseline="0" dirty="0"/>
            <a:t>, </a:t>
          </a:r>
          <a:r>
            <a:rPr lang="en-US" sz="2400" b="0" i="0" baseline="0" dirty="0" err="1"/>
            <a:t>duy</a:t>
          </a:r>
          <a:r>
            <a:rPr lang="en-US" sz="2400" b="0" i="0" baseline="0" dirty="0"/>
            <a:t> </a:t>
          </a:r>
          <a:r>
            <a:rPr lang="en-US" sz="2400" b="0" i="0" baseline="0" dirty="0" err="1"/>
            <a:t>trì</a:t>
          </a:r>
          <a:r>
            <a:rPr lang="en-US" sz="2400" b="0" i="0" baseline="0" dirty="0"/>
            <a:t> </a:t>
          </a:r>
          <a:r>
            <a:rPr lang="en-US" sz="2400" b="0" i="0" baseline="0" dirty="0" err="1"/>
            <a:t>tính</a:t>
          </a:r>
          <a:r>
            <a:rPr lang="en-US" sz="2400" b="0" i="0" baseline="0" dirty="0"/>
            <a:t> </a:t>
          </a:r>
          <a:r>
            <a:rPr lang="en-US" sz="2400" b="0" i="0" baseline="0" dirty="0" err="1"/>
            <a:t>nhất</a:t>
          </a:r>
          <a:r>
            <a:rPr lang="en-US" sz="2400" b="0" i="0" baseline="0" dirty="0"/>
            <a:t> </a:t>
          </a:r>
          <a:r>
            <a:rPr lang="en-US" sz="2400" b="0" i="0" baseline="0" dirty="0" err="1"/>
            <a:t>quán</a:t>
          </a:r>
          <a:r>
            <a:rPr lang="en-US" sz="2400" b="0" i="0" baseline="0" dirty="0"/>
            <a:t> so </a:t>
          </a:r>
          <a:r>
            <a:rPr lang="en-US" sz="2400" b="0" i="0" baseline="0" dirty="0" err="1"/>
            <a:t>với</a:t>
          </a:r>
          <a:r>
            <a:rPr lang="en-US" sz="2400" b="0" i="0" baseline="0" dirty="0"/>
            <a:t> </a:t>
          </a:r>
          <a:r>
            <a:rPr lang="en-US" sz="2400" b="0" i="0" baseline="0" dirty="0" err="1"/>
            <a:t>quản</a:t>
          </a:r>
          <a:r>
            <a:rPr lang="en-US" sz="2400" b="0" i="0" baseline="0" dirty="0"/>
            <a:t> </a:t>
          </a:r>
          <a:r>
            <a:rPr lang="en-US" sz="2400" b="0" i="0" baseline="0" dirty="0" err="1"/>
            <a:t>lý</a:t>
          </a:r>
          <a:r>
            <a:rPr lang="en-US" sz="2400" b="0" i="0" baseline="0" dirty="0"/>
            <a:t> </a:t>
          </a:r>
          <a:r>
            <a:rPr lang="en-US" sz="2400" b="0" i="0" baseline="0" dirty="0" err="1"/>
            <a:t>thủ</a:t>
          </a:r>
          <a:r>
            <a:rPr lang="en-US" sz="2400" b="0" i="0" baseline="0" dirty="0"/>
            <a:t> </a:t>
          </a:r>
          <a:r>
            <a:rPr lang="en-US" sz="2400" b="0" i="0" baseline="0" dirty="0" err="1"/>
            <a:t>công</a:t>
          </a:r>
          <a:r>
            <a:rPr lang="en-US" sz="2400" b="0" i="0" baseline="0" dirty="0"/>
            <a:t> </a:t>
          </a:r>
          <a:endParaRPr lang="en-US" sz="2400" dirty="0"/>
        </a:p>
      </dgm:t>
    </dgm:pt>
    <dgm:pt modelId="{792A0274-301A-4C8E-A30E-2B5779825E23}" type="parTrans" cxnId="{964597C5-523D-460D-BB2C-7E1CC5214AA3}">
      <dgm:prSet/>
      <dgm:spPr/>
      <dgm:t>
        <a:bodyPr/>
        <a:lstStyle/>
        <a:p>
          <a:endParaRPr lang="en-US"/>
        </a:p>
      </dgm:t>
    </dgm:pt>
    <dgm:pt modelId="{ACE9D2CD-9FC2-4CB4-AA5B-582D21B94C8B}" type="sibTrans" cxnId="{964597C5-523D-460D-BB2C-7E1CC5214AA3}">
      <dgm:prSet/>
      <dgm:spPr/>
      <dgm:t>
        <a:bodyPr/>
        <a:lstStyle/>
        <a:p>
          <a:endParaRPr lang="en-US"/>
        </a:p>
      </dgm:t>
    </dgm:pt>
    <dgm:pt modelId="{B6885431-AF87-4B81-871F-4740BB482B09}">
      <dgm:prSet custT="1"/>
      <dgm:spPr/>
      <dgm:t>
        <a:bodyPr/>
        <a:lstStyle/>
        <a:p>
          <a:pPr algn="ctr"/>
          <a:r>
            <a:rPr lang="en-US" sz="2400" b="0" i="0" baseline="0" dirty="0" err="1"/>
            <a:t>Dữ</a:t>
          </a:r>
          <a:r>
            <a:rPr lang="en-US" sz="2400" b="0" i="0" baseline="0" dirty="0"/>
            <a:t> </a:t>
          </a:r>
          <a:r>
            <a:rPr lang="en-US" sz="2400" b="0" i="0" baseline="0" dirty="0" err="1"/>
            <a:t>liệu</a:t>
          </a:r>
          <a:r>
            <a:rPr lang="en-US" sz="2400" b="0" i="0" baseline="0" dirty="0"/>
            <a:t> </a:t>
          </a:r>
          <a:r>
            <a:rPr lang="en-US" sz="2400" b="0" i="0" baseline="0" dirty="0" err="1"/>
            <a:t>tập</a:t>
          </a:r>
          <a:r>
            <a:rPr lang="en-US" sz="2400" b="0" i="0" baseline="0" dirty="0"/>
            <a:t> </a:t>
          </a:r>
          <a:r>
            <a:rPr lang="en-US" sz="2400" b="0" i="0" baseline="0" dirty="0" err="1"/>
            <a:t>trung</a:t>
          </a:r>
          <a:r>
            <a:rPr lang="en-US" sz="2400" b="0" i="0" baseline="0" dirty="0"/>
            <a:t>, </a:t>
          </a:r>
          <a:r>
            <a:rPr lang="en-US" sz="2400" b="0" i="0" baseline="0" dirty="0" err="1"/>
            <a:t>dễ</a:t>
          </a:r>
          <a:r>
            <a:rPr lang="en-US" sz="2400" b="0" i="0" baseline="0" dirty="0"/>
            <a:t> </a:t>
          </a:r>
          <a:r>
            <a:rPr lang="en-US" sz="2400" b="0" i="0" baseline="0" dirty="0" err="1"/>
            <a:t>tra</a:t>
          </a:r>
          <a:r>
            <a:rPr lang="en-US" sz="2400" b="0" i="0" baseline="0" dirty="0"/>
            <a:t> </a:t>
          </a:r>
          <a:r>
            <a:rPr lang="en-US" sz="2400" b="0" i="0" baseline="0" dirty="0" err="1"/>
            <a:t>cứu</a:t>
          </a:r>
          <a:r>
            <a:rPr lang="en-US" sz="2400" b="0" i="0" baseline="0" dirty="0"/>
            <a:t> </a:t>
          </a:r>
          <a:r>
            <a:rPr lang="en-US" sz="2400" b="0" i="0" baseline="0" dirty="0" err="1"/>
            <a:t>và</a:t>
          </a:r>
          <a:r>
            <a:rPr lang="en-US" sz="2400" b="0" i="0" baseline="0" dirty="0"/>
            <a:t> </a:t>
          </a:r>
          <a:r>
            <a:rPr lang="en-US" sz="2400" b="0" i="0" baseline="0" dirty="0" err="1"/>
            <a:t>hỗ</a:t>
          </a:r>
          <a:r>
            <a:rPr lang="en-US" sz="2400" b="0" i="0" baseline="0" dirty="0"/>
            <a:t> </a:t>
          </a:r>
          <a:r>
            <a:rPr lang="en-US" sz="2400" b="0" i="0" baseline="0" dirty="0" err="1"/>
            <a:t>trợ</a:t>
          </a:r>
          <a:r>
            <a:rPr lang="en-US" sz="2400" b="0" i="0" baseline="0" dirty="0"/>
            <a:t> </a:t>
          </a:r>
          <a:r>
            <a:rPr lang="en-US" sz="2400" b="0" i="0" baseline="0" dirty="0" err="1"/>
            <a:t>tạo</a:t>
          </a:r>
          <a:r>
            <a:rPr lang="en-US" sz="2400" b="0" i="0" baseline="0" dirty="0"/>
            <a:t>/</a:t>
          </a:r>
          <a:r>
            <a:rPr lang="en-US" sz="2400" b="0" i="0" baseline="0" dirty="0" err="1"/>
            <a:t>sửa</a:t>
          </a:r>
          <a:r>
            <a:rPr lang="en-US" sz="2400" b="0" i="0" baseline="0" dirty="0"/>
            <a:t> </a:t>
          </a:r>
          <a:r>
            <a:rPr lang="en-US" sz="2400" b="0" i="0" baseline="0" dirty="0" err="1"/>
            <a:t>nội</a:t>
          </a:r>
          <a:r>
            <a:rPr lang="en-US" sz="2400" b="0" i="0" baseline="0" dirty="0"/>
            <a:t> dung </a:t>
          </a:r>
          <a:r>
            <a:rPr lang="en-US" sz="2400" b="0" i="0" baseline="0" dirty="0" err="1"/>
            <a:t>bằng</a:t>
          </a:r>
          <a:r>
            <a:rPr lang="en-US" sz="2400" b="0" i="0" baseline="0" dirty="0"/>
            <a:t> AI </a:t>
          </a:r>
          <a:endParaRPr lang="en-US" sz="2400" dirty="0"/>
        </a:p>
      </dgm:t>
    </dgm:pt>
    <dgm:pt modelId="{BE374BA4-7C4A-4CC6-9C71-7CF3C62F5716}" type="parTrans" cxnId="{3B1FC6E3-1C34-400E-A319-5CA859C838A8}">
      <dgm:prSet/>
      <dgm:spPr/>
      <dgm:t>
        <a:bodyPr/>
        <a:lstStyle/>
        <a:p>
          <a:endParaRPr lang="en-US"/>
        </a:p>
      </dgm:t>
    </dgm:pt>
    <dgm:pt modelId="{62D89256-6552-4BFF-BBB6-FD280BBFB6A5}" type="sibTrans" cxnId="{3B1FC6E3-1C34-400E-A319-5CA859C838A8}">
      <dgm:prSet/>
      <dgm:spPr/>
      <dgm:t>
        <a:bodyPr/>
        <a:lstStyle/>
        <a:p>
          <a:endParaRPr lang="en-US"/>
        </a:p>
      </dgm:t>
    </dgm:pt>
    <dgm:pt modelId="{6C52FE9F-7E1C-4484-B84E-FB52336197B5}" type="pres">
      <dgm:prSet presAssocID="{B18FE87C-9D36-4E38-A647-3A689E8B5C8D}" presName="outerComposite" presStyleCnt="0">
        <dgm:presLayoutVars>
          <dgm:chMax val="5"/>
          <dgm:dir/>
          <dgm:resizeHandles val="exact"/>
        </dgm:presLayoutVars>
      </dgm:prSet>
      <dgm:spPr/>
    </dgm:pt>
    <dgm:pt modelId="{43AE1AD5-D678-458F-A8AC-8D53ADA70CC0}" type="pres">
      <dgm:prSet presAssocID="{B18FE87C-9D36-4E38-A647-3A689E8B5C8D}" presName="dummyMaxCanvas" presStyleCnt="0">
        <dgm:presLayoutVars/>
      </dgm:prSet>
      <dgm:spPr/>
    </dgm:pt>
    <dgm:pt modelId="{37F21CDA-D371-4239-9D80-150710CF56E2}" type="pres">
      <dgm:prSet presAssocID="{B18FE87C-9D36-4E38-A647-3A689E8B5C8D}" presName="FourNodes_1" presStyleLbl="node1" presStyleIdx="0" presStyleCnt="4" custScaleX="106338">
        <dgm:presLayoutVars>
          <dgm:bulletEnabled val="1"/>
        </dgm:presLayoutVars>
      </dgm:prSet>
      <dgm:spPr/>
    </dgm:pt>
    <dgm:pt modelId="{4A6CCAEE-8EE5-4B1C-8799-3B594EA09002}" type="pres">
      <dgm:prSet presAssocID="{B18FE87C-9D36-4E38-A647-3A689E8B5C8D}" presName="FourNodes_2" presStyleLbl="node1" presStyleIdx="1" presStyleCnt="4">
        <dgm:presLayoutVars>
          <dgm:bulletEnabled val="1"/>
        </dgm:presLayoutVars>
      </dgm:prSet>
      <dgm:spPr/>
    </dgm:pt>
    <dgm:pt modelId="{0BA15E0B-EF7C-4628-8082-EC3F8E013798}" type="pres">
      <dgm:prSet presAssocID="{B18FE87C-9D36-4E38-A647-3A689E8B5C8D}" presName="FourNodes_3" presStyleLbl="node1" presStyleIdx="2" presStyleCnt="4">
        <dgm:presLayoutVars>
          <dgm:bulletEnabled val="1"/>
        </dgm:presLayoutVars>
      </dgm:prSet>
      <dgm:spPr/>
    </dgm:pt>
    <dgm:pt modelId="{7B7B12C6-11FE-4EA8-B775-610C292ABC14}" type="pres">
      <dgm:prSet presAssocID="{B18FE87C-9D36-4E38-A647-3A689E8B5C8D}" presName="FourNodes_4" presStyleLbl="node1" presStyleIdx="3" presStyleCnt="4">
        <dgm:presLayoutVars>
          <dgm:bulletEnabled val="1"/>
        </dgm:presLayoutVars>
      </dgm:prSet>
      <dgm:spPr/>
    </dgm:pt>
    <dgm:pt modelId="{E945A575-8EE2-4640-86D8-87967C1BDEEE}" type="pres">
      <dgm:prSet presAssocID="{B18FE87C-9D36-4E38-A647-3A689E8B5C8D}" presName="FourConn_1-2" presStyleLbl="fgAccFollowNode1" presStyleIdx="0" presStyleCnt="3">
        <dgm:presLayoutVars>
          <dgm:bulletEnabled val="1"/>
        </dgm:presLayoutVars>
      </dgm:prSet>
      <dgm:spPr/>
    </dgm:pt>
    <dgm:pt modelId="{A8B75510-C7AD-435E-9B41-2341EA7ADBE2}" type="pres">
      <dgm:prSet presAssocID="{B18FE87C-9D36-4E38-A647-3A689E8B5C8D}" presName="FourConn_2-3" presStyleLbl="fgAccFollowNode1" presStyleIdx="1" presStyleCnt="3">
        <dgm:presLayoutVars>
          <dgm:bulletEnabled val="1"/>
        </dgm:presLayoutVars>
      </dgm:prSet>
      <dgm:spPr/>
    </dgm:pt>
    <dgm:pt modelId="{92D35B6B-9DE5-4629-AAC6-8D4AB6AAA847}" type="pres">
      <dgm:prSet presAssocID="{B18FE87C-9D36-4E38-A647-3A689E8B5C8D}" presName="FourConn_3-4" presStyleLbl="fgAccFollowNode1" presStyleIdx="2" presStyleCnt="3">
        <dgm:presLayoutVars>
          <dgm:bulletEnabled val="1"/>
        </dgm:presLayoutVars>
      </dgm:prSet>
      <dgm:spPr/>
    </dgm:pt>
    <dgm:pt modelId="{A337147D-C344-4C2D-A803-39601C6973DD}" type="pres">
      <dgm:prSet presAssocID="{B18FE87C-9D36-4E38-A647-3A689E8B5C8D}" presName="FourNodes_1_text" presStyleLbl="node1" presStyleIdx="3" presStyleCnt="4">
        <dgm:presLayoutVars>
          <dgm:bulletEnabled val="1"/>
        </dgm:presLayoutVars>
      </dgm:prSet>
      <dgm:spPr/>
    </dgm:pt>
    <dgm:pt modelId="{9F4E77C8-2397-49BE-A794-3D1049AE9440}" type="pres">
      <dgm:prSet presAssocID="{B18FE87C-9D36-4E38-A647-3A689E8B5C8D}" presName="FourNodes_2_text" presStyleLbl="node1" presStyleIdx="3" presStyleCnt="4">
        <dgm:presLayoutVars>
          <dgm:bulletEnabled val="1"/>
        </dgm:presLayoutVars>
      </dgm:prSet>
      <dgm:spPr/>
    </dgm:pt>
    <dgm:pt modelId="{06ED2B37-248A-4ED8-9B19-519BE8B12EE3}" type="pres">
      <dgm:prSet presAssocID="{B18FE87C-9D36-4E38-A647-3A689E8B5C8D}" presName="FourNodes_3_text" presStyleLbl="node1" presStyleIdx="3" presStyleCnt="4">
        <dgm:presLayoutVars>
          <dgm:bulletEnabled val="1"/>
        </dgm:presLayoutVars>
      </dgm:prSet>
      <dgm:spPr/>
    </dgm:pt>
    <dgm:pt modelId="{B7D77623-840B-452C-BF5A-238748FD4B78}" type="pres">
      <dgm:prSet presAssocID="{B18FE87C-9D36-4E38-A647-3A689E8B5C8D}" presName="FourNodes_4_text" presStyleLbl="node1" presStyleIdx="3" presStyleCnt="4">
        <dgm:presLayoutVars>
          <dgm:bulletEnabled val="1"/>
        </dgm:presLayoutVars>
      </dgm:prSet>
      <dgm:spPr/>
    </dgm:pt>
  </dgm:ptLst>
  <dgm:cxnLst>
    <dgm:cxn modelId="{984E9604-EE32-4A88-B592-D49771D16EB2}" type="presOf" srcId="{B6885431-AF87-4B81-871F-4740BB482B09}" destId="{B7D77623-840B-452C-BF5A-238748FD4B78}" srcOrd="1" destOrd="0" presId="urn:microsoft.com/office/officeart/2005/8/layout/vProcess5"/>
    <dgm:cxn modelId="{9B774112-620D-4B37-BB63-2C96AF917517}" type="presOf" srcId="{590170A6-721B-4084-B215-CFD82B3910DC}" destId="{4A6CCAEE-8EE5-4B1C-8799-3B594EA09002}" srcOrd="0" destOrd="0" presId="urn:microsoft.com/office/officeart/2005/8/layout/vProcess5"/>
    <dgm:cxn modelId="{CCD57814-9E12-4DF5-8130-48555694ECDA}" type="presOf" srcId="{7C9FC440-94B0-44E7-8839-43B0C1A18617}" destId="{A8B75510-C7AD-435E-9B41-2341EA7ADBE2}" srcOrd="0" destOrd="0" presId="urn:microsoft.com/office/officeart/2005/8/layout/vProcess5"/>
    <dgm:cxn modelId="{4508AE20-4B30-4F36-B33B-D9A85BDE10C6}" type="presOf" srcId="{590170A6-721B-4084-B215-CFD82B3910DC}" destId="{9F4E77C8-2397-49BE-A794-3D1049AE9440}" srcOrd="1" destOrd="0" presId="urn:microsoft.com/office/officeart/2005/8/layout/vProcess5"/>
    <dgm:cxn modelId="{9E58EA23-D4C7-4ED3-8C13-13BA1BCCD2BC}" type="presOf" srcId="{736AD4F0-32B7-44C2-826E-DBBC8524ADA6}" destId="{37F21CDA-D371-4239-9D80-150710CF56E2}" srcOrd="0" destOrd="0" presId="urn:microsoft.com/office/officeart/2005/8/layout/vProcess5"/>
    <dgm:cxn modelId="{D00F6630-6F7A-4282-AA71-C71875AA2BF8}" type="presOf" srcId="{36A3B360-3B20-40FB-9DAC-B30382EE4FB4}" destId="{06ED2B37-248A-4ED8-9B19-519BE8B12EE3}" srcOrd="1" destOrd="0" presId="urn:microsoft.com/office/officeart/2005/8/layout/vProcess5"/>
    <dgm:cxn modelId="{39123135-B9FE-4250-8BF1-F95615FE8158}" type="presOf" srcId="{736AD4F0-32B7-44C2-826E-DBBC8524ADA6}" destId="{A337147D-C344-4C2D-A803-39601C6973DD}" srcOrd="1" destOrd="0" presId="urn:microsoft.com/office/officeart/2005/8/layout/vProcess5"/>
    <dgm:cxn modelId="{EB7A3468-06AD-4EAA-8079-4446ACAD918F}" srcId="{B18FE87C-9D36-4E38-A647-3A689E8B5C8D}" destId="{736AD4F0-32B7-44C2-826E-DBBC8524ADA6}" srcOrd="0" destOrd="0" parTransId="{04B37E59-BEFF-47C3-A56C-0E22EF8EB0B1}" sibTransId="{25543D35-FD6B-465A-B10A-EC3270CA81ED}"/>
    <dgm:cxn modelId="{648E6449-E600-4A52-BEBB-66C7F23381EA}" type="presOf" srcId="{36A3B360-3B20-40FB-9DAC-B30382EE4FB4}" destId="{0BA15E0B-EF7C-4628-8082-EC3F8E013798}" srcOrd="0" destOrd="0" presId="urn:microsoft.com/office/officeart/2005/8/layout/vProcess5"/>
    <dgm:cxn modelId="{17215375-1535-43A5-85E7-976B7801CDE9}" srcId="{B18FE87C-9D36-4E38-A647-3A689E8B5C8D}" destId="{590170A6-721B-4084-B215-CFD82B3910DC}" srcOrd="1" destOrd="0" parTransId="{259D1088-9717-406D-B04B-4D4A03FE966A}" sibTransId="{7C9FC440-94B0-44E7-8839-43B0C1A18617}"/>
    <dgm:cxn modelId="{A9F21577-8982-41B1-BB23-331D16861248}" type="presOf" srcId="{25543D35-FD6B-465A-B10A-EC3270CA81ED}" destId="{E945A575-8EE2-4640-86D8-87967C1BDEEE}" srcOrd="0" destOrd="0" presId="urn:microsoft.com/office/officeart/2005/8/layout/vProcess5"/>
    <dgm:cxn modelId="{964597C5-523D-460D-BB2C-7E1CC5214AA3}" srcId="{B18FE87C-9D36-4E38-A647-3A689E8B5C8D}" destId="{36A3B360-3B20-40FB-9DAC-B30382EE4FB4}" srcOrd="2" destOrd="0" parTransId="{792A0274-301A-4C8E-A30E-2B5779825E23}" sibTransId="{ACE9D2CD-9FC2-4CB4-AA5B-582D21B94C8B}"/>
    <dgm:cxn modelId="{3B1FC6E3-1C34-400E-A319-5CA859C838A8}" srcId="{B18FE87C-9D36-4E38-A647-3A689E8B5C8D}" destId="{B6885431-AF87-4B81-871F-4740BB482B09}" srcOrd="3" destOrd="0" parTransId="{BE374BA4-7C4A-4CC6-9C71-7CF3C62F5716}" sibTransId="{62D89256-6552-4BFF-BBB6-FD280BBFB6A5}"/>
    <dgm:cxn modelId="{EC5239E8-E53B-4A9D-ABC5-10AD71600E69}" type="presOf" srcId="{B18FE87C-9D36-4E38-A647-3A689E8B5C8D}" destId="{6C52FE9F-7E1C-4484-B84E-FB52336197B5}" srcOrd="0" destOrd="0" presId="urn:microsoft.com/office/officeart/2005/8/layout/vProcess5"/>
    <dgm:cxn modelId="{9F2003EB-632D-48D0-8301-29F313FC791D}" type="presOf" srcId="{B6885431-AF87-4B81-871F-4740BB482B09}" destId="{7B7B12C6-11FE-4EA8-B775-610C292ABC14}" srcOrd="0" destOrd="0" presId="urn:microsoft.com/office/officeart/2005/8/layout/vProcess5"/>
    <dgm:cxn modelId="{00CD95EF-96E8-425B-A76B-75EC04EC0A5A}" type="presOf" srcId="{ACE9D2CD-9FC2-4CB4-AA5B-582D21B94C8B}" destId="{92D35B6B-9DE5-4629-AAC6-8D4AB6AAA847}" srcOrd="0" destOrd="0" presId="urn:microsoft.com/office/officeart/2005/8/layout/vProcess5"/>
    <dgm:cxn modelId="{99E6378B-1922-4E7E-A9E2-D6B452A1945C}" type="presParOf" srcId="{6C52FE9F-7E1C-4484-B84E-FB52336197B5}" destId="{43AE1AD5-D678-458F-A8AC-8D53ADA70CC0}" srcOrd="0" destOrd="0" presId="urn:microsoft.com/office/officeart/2005/8/layout/vProcess5"/>
    <dgm:cxn modelId="{7CF76A43-64AD-4E84-AC9D-AFFE0E731295}" type="presParOf" srcId="{6C52FE9F-7E1C-4484-B84E-FB52336197B5}" destId="{37F21CDA-D371-4239-9D80-150710CF56E2}" srcOrd="1" destOrd="0" presId="urn:microsoft.com/office/officeart/2005/8/layout/vProcess5"/>
    <dgm:cxn modelId="{755F2932-525F-4E15-9801-8C6250A1A558}" type="presParOf" srcId="{6C52FE9F-7E1C-4484-B84E-FB52336197B5}" destId="{4A6CCAEE-8EE5-4B1C-8799-3B594EA09002}" srcOrd="2" destOrd="0" presId="urn:microsoft.com/office/officeart/2005/8/layout/vProcess5"/>
    <dgm:cxn modelId="{EAD17C43-A9F5-4E6E-89A4-0EF4D8BFEEA5}" type="presParOf" srcId="{6C52FE9F-7E1C-4484-B84E-FB52336197B5}" destId="{0BA15E0B-EF7C-4628-8082-EC3F8E013798}" srcOrd="3" destOrd="0" presId="urn:microsoft.com/office/officeart/2005/8/layout/vProcess5"/>
    <dgm:cxn modelId="{641DA576-D8F4-46E3-97DD-827F1671ABAC}" type="presParOf" srcId="{6C52FE9F-7E1C-4484-B84E-FB52336197B5}" destId="{7B7B12C6-11FE-4EA8-B775-610C292ABC14}" srcOrd="4" destOrd="0" presId="urn:microsoft.com/office/officeart/2005/8/layout/vProcess5"/>
    <dgm:cxn modelId="{AB00E3AB-AA15-4F58-A51E-A35841861EDA}" type="presParOf" srcId="{6C52FE9F-7E1C-4484-B84E-FB52336197B5}" destId="{E945A575-8EE2-4640-86D8-87967C1BDEEE}" srcOrd="5" destOrd="0" presId="urn:microsoft.com/office/officeart/2005/8/layout/vProcess5"/>
    <dgm:cxn modelId="{A54C3B1A-30F1-494B-807B-220E6A446D6F}" type="presParOf" srcId="{6C52FE9F-7E1C-4484-B84E-FB52336197B5}" destId="{A8B75510-C7AD-435E-9B41-2341EA7ADBE2}" srcOrd="6" destOrd="0" presId="urn:microsoft.com/office/officeart/2005/8/layout/vProcess5"/>
    <dgm:cxn modelId="{E00DFEC0-445F-4DA2-A5F0-916356440FC1}" type="presParOf" srcId="{6C52FE9F-7E1C-4484-B84E-FB52336197B5}" destId="{92D35B6B-9DE5-4629-AAC6-8D4AB6AAA847}" srcOrd="7" destOrd="0" presId="urn:microsoft.com/office/officeart/2005/8/layout/vProcess5"/>
    <dgm:cxn modelId="{E9864A07-FC6F-4145-A2C4-B3F0C297240E}" type="presParOf" srcId="{6C52FE9F-7E1C-4484-B84E-FB52336197B5}" destId="{A337147D-C344-4C2D-A803-39601C6973DD}" srcOrd="8" destOrd="0" presId="urn:microsoft.com/office/officeart/2005/8/layout/vProcess5"/>
    <dgm:cxn modelId="{FAAD4FA9-353F-44DD-B7F6-C6B105D9C7A0}" type="presParOf" srcId="{6C52FE9F-7E1C-4484-B84E-FB52336197B5}" destId="{9F4E77C8-2397-49BE-A794-3D1049AE9440}" srcOrd="9" destOrd="0" presId="urn:microsoft.com/office/officeart/2005/8/layout/vProcess5"/>
    <dgm:cxn modelId="{2C53D58D-B1BC-40FA-AF0D-79EC073FD501}" type="presParOf" srcId="{6C52FE9F-7E1C-4484-B84E-FB52336197B5}" destId="{06ED2B37-248A-4ED8-9B19-519BE8B12EE3}" srcOrd="10" destOrd="0" presId="urn:microsoft.com/office/officeart/2005/8/layout/vProcess5"/>
    <dgm:cxn modelId="{0AE92C1E-ACA0-4002-AEFB-031C805FE76A}" type="presParOf" srcId="{6C52FE9F-7E1C-4484-B84E-FB52336197B5}" destId="{B7D77623-840B-452C-BF5A-238748FD4B78}" srcOrd="11" destOrd="0" presId="urn:microsoft.com/office/officeart/2005/8/layout/vProcess5"/>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21CDA-D371-4239-9D80-150710CF56E2}">
      <dsp:nvSpPr>
        <dsp:cNvPr id="0" name=""/>
        <dsp:cNvSpPr/>
      </dsp:nvSpPr>
      <dsp:spPr>
        <a:xfrm>
          <a:off x="-176162" y="0"/>
          <a:ext cx="11822526" cy="14785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err="1"/>
            <a:t>Xây</a:t>
          </a:r>
          <a:r>
            <a:rPr lang="en-US" sz="2400" b="0" i="0" kern="1200" baseline="0" dirty="0"/>
            <a:t> </a:t>
          </a:r>
          <a:r>
            <a:rPr lang="en-US" sz="2400" b="0" i="0" kern="1200" baseline="0" dirty="0" err="1"/>
            <a:t>dựng</a:t>
          </a:r>
          <a:r>
            <a:rPr lang="en-US" sz="2400" b="0" i="0" kern="1200" baseline="0" dirty="0"/>
            <a:t> </a:t>
          </a:r>
          <a:r>
            <a:rPr lang="en-US" sz="2400" b="0" i="0" kern="1200" baseline="0" dirty="0" err="1"/>
            <a:t>được</a:t>
          </a:r>
          <a:r>
            <a:rPr lang="en-US" sz="2400" b="0" i="0" kern="1200" baseline="0" dirty="0"/>
            <a:t> </a:t>
          </a:r>
          <a:r>
            <a:rPr lang="en-US" sz="2400" b="0" i="0" kern="1200" baseline="0" dirty="0" err="1"/>
            <a:t>hệ</a:t>
          </a:r>
          <a:r>
            <a:rPr lang="en-US" sz="2400" b="0" i="0" kern="1200" baseline="0" dirty="0"/>
            <a:t> </a:t>
          </a:r>
          <a:r>
            <a:rPr lang="en-US" sz="2400" b="0" i="0" kern="1200" baseline="0" dirty="0" err="1"/>
            <a:t>thống</a:t>
          </a:r>
          <a:r>
            <a:rPr lang="en-US" sz="2400" b="0" i="0" kern="1200" baseline="0" dirty="0"/>
            <a:t> </a:t>
          </a:r>
          <a:r>
            <a:rPr lang="en-US" sz="2400" b="0" i="0" kern="1200" baseline="0" dirty="0" err="1"/>
            <a:t>quản</a:t>
          </a:r>
          <a:r>
            <a:rPr lang="en-US" sz="2400" b="0" i="0" kern="1200" baseline="0" dirty="0"/>
            <a:t> </a:t>
          </a:r>
          <a:r>
            <a:rPr lang="en-US" sz="2400" b="0" i="0" kern="1200" baseline="0" dirty="0" err="1"/>
            <a:t>lý</a:t>
          </a:r>
          <a:r>
            <a:rPr lang="en-US" sz="2400" b="0" i="0" kern="1200" baseline="0" dirty="0"/>
            <a:t> </a:t>
          </a:r>
          <a:r>
            <a:rPr lang="en-US" sz="2400" b="0" i="0" kern="1200" baseline="0" dirty="0" err="1"/>
            <a:t>thế</a:t>
          </a:r>
          <a:r>
            <a:rPr lang="en-US" sz="2400" b="0" i="0" kern="1200" baseline="0" dirty="0"/>
            <a:t> </a:t>
          </a:r>
          <a:r>
            <a:rPr lang="en-US" sz="2400" b="0" i="0" kern="1200" baseline="0" dirty="0" err="1"/>
            <a:t>giới</a:t>
          </a:r>
          <a:r>
            <a:rPr lang="en-US" sz="2400" b="0" i="0" kern="1200" baseline="0" dirty="0"/>
            <a:t> </a:t>
          </a:r>
          <a:r>
            <a:rPr lang="en-US" sz="2400" b="0" i="0" kern="1200" baseline="0" dirty="0" err="1"/>
            <a:t>ảo</a:t>
          </a:r>
          <a:r>
            <a:rPr lang="en-US" sz="2400" b="0" i="0" kern="1200" baseline="0" dirty="0"/>
            <a:t> </a:t>
          </a:r>
          <a:r>
            <a:rPr lang="en-US" sz="2400" b="0" i="0" kern="1200" baseline="0" dirty="0" err="1"/>
            <a:t>trong</a:t>
          </a:r>
          <a:r>
            <a:rPr lang="en-US" sz="2400" b="0" i="0" kern="1200" baseline="0" dirty="0"/>
            <a:t> </a:t>
          </a:r>
          <a:r>
            <a:rPr lang="en-US" sz="2400" b="0" i="0" kern="1200" baseline="0" dirty="0" err="1"/>
            <a:t>truyện</a:t>
          </a:r>
          <a:r>
            <a:rPr lang="en-US" sz="2400" b="0" i="0" kern="1200" baseline="0" dirty="0"/>
            <a:t> online </a:t>
          </a:r>
          <a:r>
            <a:rPr lang="en-US" sz="2400" b="0" i="0" kern="1200" baseline="0" dirty="0" err="1"/>
            <a:t>hoàn</a:t>
          </a:r>
          <a:r>
            <a:rPr lang="en-US" sz="2400" b="0" i="0" kern="1200" baseline="0" dirty="0"/>
            <a:t> </a:t>
          </a:r>
          <a:r>
            <a:rPr lang="en-US" sz="2400" b="0" i="0" kern="1200" baseline="0" dirty="0" err="1"/>
            <a:t>chỉnh</a:t>
          </a:r>
          <a:r>
            <a:rPr lang="en-US" sz="2400" b="0" i="0" kern="1200" baseline="0" dirty="0"/>
            <a:t> </a:t>
          </a:r>
          <a:endParaRPr lang="en-US" sz="2400" kern="1200" dirty="0"/>
        </a:p>
      </dsp:txBody>
      <dsp:txXfrm>
        <a:off x="-132856" y="43306"/>
        <a:ext cx="9998537" cy="1391963"/>
      </dsp:txXfrm>
    </dsp:sp>
    <dsp:sp modelId="{4A6CCAEE-8EE5-4B1C-8799-3B594EA09002}">
      <dsp:nvSpPr>
        <dsp:cNvPr id="0" name=""/>
        <dsp:cNvSpPr/>
      </dsp:nvSpPr>
      <dsp:spPr>
        <a:xfrm>
          <a:off x="1107284" y="1747406"/>
          <a:ext cx="11117876" cy="14785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Quản lý thế giới, thực thể và mối quan hệ hiệu quả </a:t>
          </a:r>
          <a:endParaRPr lang="en-US" sz="2400" kern="1200"/>
        </a:p>
      </dsp:txBody>
      <dsp:txXfrm>
        <a:off x="1150590" y="1790712"/>
        <a:ext cx="9139068" cy="1391963"/>
      </dsp:txXfrm>
    </dsp:sp>
    <dsp:sp modelId="{0BA15E0B-EF7C-4628-8082-EC3F8E013798}">
      <dsp:nvSpPr>
        <dsp:cNvPr id="0" name=""/>
        <dsp:cNvSpPr/>
      </dsp:nvSpPr>
      <dsp:spPr>
        <a:xfrm>
          <a:off x="2024509" y="3494813"/>
          <a:ext cx="11117876" cy="14785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err="1"/>
            <a:t>Giảm</a:t>
          </a:r>
          <a:r>
            <a:rPr lang="en-US" sz="2400" b="0" i="0" kern="1200" baseline="0" dirty="0"/>
            <a:t> </a:t>
          </a:r>
          <a:r>
            <a:rPr lang="en-US" sz="2400" b="0" i="0" kern="1200" baseline="0" dirty="0" err="1"/>
            <a:t>sai</a:t>
          </a:r>
          <a:r>
            <a:rPr lang="en-US" sz="2400" b="0" i="0" kern="1200" baseline="0" dirty="0"/>
            <a:t> </a:t>
          </a:r>
          <a:r>
            <a:rPr lang="en-US" sz="2400" b="0" i="0" kern="1200" baseline="0" dirty="0" err="1"/>
            <a:t>sót</a:t>
          </a:r>
          <a:r>
            <a:rPr lang="en-US" sz="2400" b="0" i="0" kern="1200" baseline="0" dirty="0"/>
            <a:t>, </a:t>
          </a:r>
          <a:r>
            <a:rPr lang="en-US" sz="2400" b="0" i="0" kern="1200" baseline="0" dirty="0" err="1"/>
            <a:t>duy</a:t>
          </a:r>
          <a:r>
            <a:rPr lang="en-US" sz="2400" b="0" i="0" kern="1200" baseline="0" dirty="0"/>
            <a:t> </a:t>
          </a:r>
          <a:r>
            <a:rPr lang="en-US" sz="2400" b="0" i="0" kern="1200" baseline="0" dirty="0" err="1"/>
            <a:t>trì</a:t>
          </a:r>
          <a:r>
            <a:rPr lang="en-US" sz="2400" b="0" i="0" kern="1200" baseline="0" dirty="0"/>
            <a:t> </a:t>
          </a:r>
          <a:r>
            <a:rPr lang="en-US" sz="2400" b="0" i="0" kern="1200" baseline="0" dirty="0" err="1"/>
            <a:t>tính</a:t>
          </a:r>
          <a:r>
            <a:rPr lang="en-US" sz="2400" b="0" i="0" kern="1200" baseline="0" dirty="0"/>
            <a:t> </a:t>
          </a:r>
          <a:r>
            <a:rPr lang="en-US" sz="2400" b="0" i="0" kern="1200" baseline="0" dirty="0" err="1"/>
            <a:t>nhất</a:t>
          </a:r>
          <a:r>
            <a:rPr lang="en-US" sz="2400" b="0" i="0" kern="1200" baseline="0" dirty="0"/>
            <a:t> </a:t>
          </a:r>
          <a:r>
            <a:rPr lang="en-US" sz="2400" b="0" i="0" kern="1200" baseline="0" dirty="0" err="1"/>
            <a:t>quán</a:t>
          </a:r>
          <a:r>
            <a:rPr lang="en-US" sz="2400" b="0" i="0" kern="1200" baseline="0" dirty="0"/>
            <a:t> so </a:t>
          </a:r>
          <a:r>
            <a:rPr lang="en-US" sz="2400" b="0" i="0" kern="1200" baseline="0" dirty="0" err="1"/>
            <a:t>với</a:t>
          </a:r>
          <a:r>
            <a:rPr lang="en-US" sz="2400" b="0" i="0" kern="1200" baseline="0" dirty="0"/>
            <a:t> </a:t>
          </a:r>
          <a:r>
            <a:rPr lang="en-US" sz="2400" b="0" i="0" kern="1200" baseline="0" dirty="0" err="1"/>
            <a:t>quản</a:t>
          </a:r>
          <a:r>
            <a:rPr lang="en-US" sz="2400" b="0" i="0" kern="1200" baseline="0" dirty="0"/>
            <a:t> </a:t>
          </a:r>
          <a:r>
            <a:rPr lang="en-US" sz="2400" b="0" i="0" kern="1200" baseline="0" dirty="0" err="1"/>
            <a:t>lý</a:t>
          </a:r>
          <a:r>
            <a:rPr lang="en-US" sz="2400" b="0" i="0" kern="1200" baseline="0" dirty="0"/>
            <a:t> </a:t>
          </a:r>
          <a:r>
            <a:rPr lang="en-US" sz="2400" b="0" i="0" kern="1200" baseline="0" dirty="0" err="1"/>
            <a:t>thủ</a:t>
          </a:r>
          <a:r>
            <a:rPr lang="en-US" sz="2400" b="0" i="0" kern="1200" baseline="0" dirty="0"/>
            <a:t> </a:t>
          </a:r>
          <a:r>
            <a:rPr lang="en-US" sz="2400" b="0" i="0" kern="1200" baseline="0" dirty="0" err="1"/>
            <a:t>công</a:t>
          </a:r>
          <a:r>
            <a:rPr lang="en-US" sz="2400" b="0" i="0" kern="1200" baseline="0" dirty="0"/>
            <a:t> </a:t>
          </a:r>
          <a:endParaRPr lang="en-US" sz="2400" kern="1200" dirty="0"/>
        </a:p>
      </dsp:txBody>
      <dsp:txXfrm>
        <a:off x="2067815" y="3538119"/>
        <a:ext cx="9152965" cy="1391963"/>
      </dsp:txXfrm>
    </dsp:sp>
    <dsp:sp modelId="{7B7B12C6-11FE-4EA8-B775-610C292ABC14}">
      <dsp:nvSpPr>
        <dsp:cNvPr id="0" name=""/>
        <dsp:cNvSpPr/>
      </dsp:nvSpPr>
      <dsp:spPr>
        <a:xfrm>
          <a:off x="2955631" y="5242220"/>
          <a:ext cx="11117876" cy="14785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err="1"/>
            <a:t>Dữ</a:t>
          </a:r>
          <a:r>
            <a:rPr lang="en-US" sz="2400" b="0" i="0" kern="1200" baseline="0" dirty="0"/>
            <a:t> </a:t>
          </a:r>
          <a:r>
            <a:rPr lang="en-US" sz="2400" b="0" i="0" kern="1200" baseline="0" dirty="0" err="1"/>
            <a:t>liệu</a:t>
          </a:r>
          <a:r>
            <a:rPr lang="en-US" sz="2400" b="0" i="0" kern="1200" baseline="0" dirty="0"/>
            <a:t> </a:t>
          </a:r>
          <a:r>
            <a:rPr lang="en-US" sz="2400" b="0" i="0" kern="1200" baseline="0" dirty="0" err="1"/>
            <a:t>tập</a:t>
          </a:r>
          <a:r>
            <a:rPr lang="en-US" sz="2400" b="0" i="0" kern="1200" baseline="0" dirty="0"/>
            <a:t> </a:t>
          </a:r>
          <a:r>
            <a:rPr lang="en-US" sz="2400" b="0" i="0" kern="1200" baseline="0" dirty="0" err="1"/>
            <a:t>trung</a:t>
          </a:r>
          <a:r>
            <a:rPr lang="en-US" sz="2400" b="0" i="0" kern="1200" baseline="0" dirty="0"/>
            <a:t>, </a:t>
          </a:r>
          <a:r>
            <a:rPr lang="en-US" sz="2400" b="0" i="0" kern="1200" baseline="0" dirty="0" err="1"/>
            <a:t>dễ</a:t>
          </a:r>
          <a:r>
            <a:rPr lang="en-US" sz="2400" b="0" i="0" kern="1200" baseline="0" dirty="0"/>
            <a:t> </a:t>
          </a:r>
          <a:r>
            <a:rPr lang="en-US" sz="2400" b="0" i="0" kern="1200" baseline="0" dirty="0" err="1"/>
            <a:t>tra</a:t>
          </a:r>
          <a:r>
            <a:rPr lang="en-US" sz="2400" b="0" i="0" kern="1200" baseline="0" dirty="0"/>
            <a:t> </a:t>
          </a:r>
          <a:r>
            <a:rPr lang="en-US" sz="2400" b="0" i="0" kern="1200" baseline="0" dirty="0" err="1"/>
            <a:t>cứu</a:t>
          </a:r>
          <a:r>
            <a:rPr lang="en-US" sz="2400" b="0" i="0" kern="1200" baseline="0" dirty="0"/>
            <a:t> </a:t>
          </a:r>
          <a:r>
            <a:rPr lang="en-US" sz="2400" b="0" i="0" kern="1200" baseline="0" dirty="0" err="1"/>
            <a:t>và</a:t>
          </a:r>
          <a:r>
            <a:rPr lang="en-US" sz="2400" b="0" i="0" kern="1200" baseline="0" dirty="0"/>
            <a:t> </a:t>
          </a:r>
          <a:r>
            <a:rPr lang="en-US" sz="2400" b="0" i="0" kern="1200" baseline="0" dirty="0" err="1"/>
            <a:t>hỗ</a:t>
          </a:r>
          <a:r>
            <a:rPr lang="en-US" sz="2400" b="0" i="0" kern="1200" baseline="0" dirty="0"/>
            <a:t> </a:t>
          </a:r>
          <a:r>
            <a:rPr lang="en-US" sz="2400" b="0" i="0" kern="1200" baseline="0" dirty="0" err="1"/>
            <a:t>trợ</a:t>
          </a:r>
          <a:r>
            <a:rPr lang="en-US" sz="2400" b="0" i="0" kern="1200" baseline="0" dirty="0"/>
            <a:t> </a:t>
          </a:r>
          <a:r>
            <a:rPr lang="en-US" sz="2400" b="0" i="0" kern="1200" baseline="0" dirty="0" err="1"/>
            <a:t>tạo</a:t>
          </a:r>
          <a:r>
            <a:rPr lang="en-US" sz="2400" b="0" i="0" kern="1200" baseline="0" dirty="0"/>
            <a:t>/</a:t>
          </a:r>
          <a:r>
            <a:rPr lang="en-US" sz="2400" b="0" i="0" kern="1200" baseline="0" dirty="0" err="1"/>
            <a:t>sửa</a:t>
          </a:r>
          <a:r>
            <a:rPr lang="en-US" sz="2400" b="0" i="0" kern="1200" baseline="0" dirty="0"/>
            <a:t> </a:t>
          </a:r>
          <a:r>
            <a:rPr lang="en-US" sz="2400" b="0" i="0" kern="1200" baseline="0" dirty="0" err="1"/>
            <a:t>nội</a:t>
          </a:r>
          <a:r>
            <a:rPr lang="en-US" sz="2400" b="0" i="0" kern="1200" baseline="0" dirty="0"/>
            <a:t> dung </a:t>
          </a:r>
          <a:r>
            <a:rPr lang="en-US" sz="2400" b="0" i="0" kern="1200" baseline="0" dirty="0" err="1"/>
            <a:t>bằng</a:t>
          </a:r>
          <a:r>
            <a:rPr lang="en-US" sz="2400" b="0" i="0" kern="1200" baseline="0" dirty="0"/>
            <a:t> AI </a:t>
          </a:r>
          <a:endParaRPr lang="en-US" sz="2400" kern="1200" dirty="0"/>
        </a:p>
      </dsp:txBody>
      <dsp:txXfrm>
        <a:off x="2998937" y="5285526"/>
        <a:ext cx="9139068" cy="1391963"/>
      </dsp:txXfrm>
    </dsp:sp>
    <dsp:sp modelId="{E945A575-8EE2-4640-86D8-87967C1BDEEE}">
      <dsp:nvSpPr>
        <dsp:cNvPr id="0" name=""/>
        <dsp:cNvSpPr/>
      </dsp:nvSpPr>
      <dsp:spPr>
        <a:xfrm>
          <a:off x="10332964" y="1132454"/>
          <a:ext cx="961073" cy="961073"/>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0549205" y="1132454"/>
        <a:ext cx="528591" cy="723207"/>
      </dsp:txXfrm>
    </dsp:sp>
    <dsp:sp modelId="{A8B75510-C7AD-435E-9B41-2341EA7ADBE2}">
      <dsp:nvSpPr>
        <dsp:cNvPr id="0" name=""/>
        <dsp:cNvSpPr/>
      </dsp:nvSpPr>
      <dsp:spPr>
        <a:xfrm>
          <a:off x="11264087" y="2879861"/>
          <a:ext cx="961073" cy="961073"/>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1480328" y="2879861"/>
        <a:ext cx="528591" cy="723207"/>
      </dsp:txXfrm>
    </dsp:sp>
    <dsp:sp modelId="{92D35B6B-9DE5-4629-AAC6-8D4AB6AAA847}">
      <dsp:nvSpPr>
        <dsp:cNvPr id="0" name=""/>
        <dsp:cNvSpPr/>
      </dsp:nvSpPr>
      <dsp:spPr>
        <a:xfrm>
          <a:off x="12181311" y="4627268"/>
          <a:ext cx="961073" cy="961073"/>
        </a:xfrm>
        <a:prstGeom prst="downArrow">
          <a:avLst>
            <a:gd name="adj1" fmla="val 55000"/>
            <a:gd name="adj2" fmla="val 45000"/>
          </a:avLst>
        </a:prstGeom>
        <a:solidFill>
          <a:schemeClr val="lt1">
            <a:alpha val="90000"/>
            <a:tint val="40000"/>
            <a:hueOff val="0"/>
            <a:satOff val="0"/>
            <a:lumOff val="0"/>
            <a:alphaOff val="0"/>
          </a:schemeClr>
        </a:solidFill>
        <a:ln w="25400"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12397552" y="4627268"/>
        <a:ext cx="528591" cy="72320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259F81-20D8-4F39-8259-BB7D5C76E8E3}" type="datetimeFigureOut">
              <a:rPr lang="en-US" smtClean="0"/>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181C3-0471-4873-B1EE-2E13290132F0}" type="slidenum">
              <a:rPr lang="en-US" smtClean="0"/>
              <a:t>‹#›</a:t>
            </a:fld>
            <a:endParaRPr lang="en-US"/>
          </a:p>
        </p:txBody>
      </p:sp>
    </p:spTree>
    <p:extLst>
      <p:ext uri="{BB962C8B-B14F-4D97-AF65-F5344CB8AC3E}">
        <p14:creationId xmlns:p14="http://schemas.microsoft.com/office/powerpoint/2010/main" val="149042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181C3-0471-4873-B1EE-2E13290132F0}" type="slidenum">
              <a:rPr lang="en-US" smtClean="0"/>
              <a:t>2</a:t>
            </a:fld>
            <a:endParaRPr lang="en-US"/>
          </a:p>
        </p:txBody>
      </p:sp>
    </p:spTree>
    <p:extLst>
      <p:ext uri="{BB962C8B-B14F-4D97-AF65-F5344CB8AC3E}">
        <p14:creationId xmlns:p14="http://schemas.microsoft.com/office/powerpoint/2010/main" val="777345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181C3-0471-4873-B1EE-2E13290132F0}" type="slidenum">
              <a:rPr lang="en-US" smtClean="0"/>
              <a:t>3</a:t>
            </a:fld>
            <a:endParaRPr lang="en-US"/>
          </a:p>
        </p:txBody>
      </p:sp>
    </p:spTree>
    <p:extLst>
      <p:ext uri="{BB962C8B-B14F-4D97-AF65-F5344CB8AC3E}">
        <p14:creationId xmlns:p14="http://schemas.microsoft.com/office/powerpoint/2010/main" val="3429419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2.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svg"/><Relationship Id="rId9" Type="http://schemas.openxmlformats.org/officeDocument/2006/relationships/image" Target="../media/image21.jpe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0.svg"/><Relationship Id="rId7" Type="http://schemas.openxmlformats.org/officeDocument/2006/relationships/image" Target="../media/image18.sv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9.png"/><Relationship Id="rId16"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2.svg"/><Relationship Id="rId5" Type="http://schemas.openxmlformats.org/officeDocument/2006/relationships/image" Target="../media/image16.svg"/><Relationship Id="rId15" Type="http://schemas.openxmlformats.org/officeDocument/2006/relationships/image" Target="../media/image27.jpeg"/><Relationship Id="rId10" Type="http://schemas.openxmlformats.org/officeDocument/2006/relationships/image" Target="../media/image11.png"/><Relationship Id="rId19" Type="http://schemas.openxmlformats.org/officeDocument/2006/relationships/image" Target="../media/image31.png"/><Relationship Id="rId4" Type="http://schemas.openxmlformats.org/officeDocument/2006/relationships/image" Target="../media/image15.png"/><Relationship Id="rId9" Type="http://schemas.openxmlformats.org/officeDocument/2006/relationships/image" Target="../media/image23.svg"/><Relationship Id="rId1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8.svg"/><Relationship Id="rId12"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3.png"/><Relationship Id="rId5" Type="http://schemas.openxmlformats.org/officeDocument/2006/relationships/image" Target="../media/image4.svg"/><Relationship Id="rId10" Type="http://schemas.openxmlformats.org/officeDocument/2006/relationships/image" Target="../media/image32.png"/><Relationship Id="rId4" Type="http://schemas.openxmlformats.org/officeDocument/2006/relationships/image" Target="../media/image3.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4.sv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svg"/><Relationship Id="rId7" Type="http://schemas.openxmlformats.org/officeDocument/2006/relationships/image" Target="../media/image18.svg"/><Relationship Id="rId12"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2.sv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4.sv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7.png"/><Relationship Id="rId3" Type="http://schemas.openxmlformats.org/officeDocument/2006/relationships/image" Target="../media/image10.svg"/><Relationship Id="rId7" Type="http://schemas.openxmlformats.org/officeDocument/2006/relationships/image" Target="../media/image16.svg"/><Relationship Id="rId12" Type="http://schemas.openxmlformats.org/officeDocument/2006/relationships/image" Target="../media/image36.jp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4.svg"/><Relationship Id="rId5" Type="http://schemas.openxmlformats.org/officeDocument/2006/relationships/image" Target="../media/image12.svg"/><Relationship Id="rId10"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8.sv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7.png"/><Relationship Id="rId3" Type="http://schemas.openxmlformats.org/officeDocument/2006/relationships/image" Target="../media/image10.svg"/><Relationship Id="rId7" Type="http://schemas.openxmlformats.org/officeDocument/2006/relationships/image" Target="../media/image16.svg"/><Relationship Id="rId12" Type="http://schemas.openxmlformats.org/officeDocument/2006/relationships/image" Target="../media/image38.jp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4.svg"/><Relationship Id="rId5" Type="http://schemas.openxmlformats.org/officeDocument/2006/relationships/image" Target="../media/image12.svg"/><Relationship Id="rId10"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37.png"/><Relationship Id="rId3" Type="http://schemas.openxmlformats.org/officeDocument/2006/relationships/image" Target="../media/image10.svg"/><Relationship Id="rId7" Type="http://schemas.openxmlformats.org/officeDocument/2006/relationships/image" Target="../media/image18.svg"/><Relationship Id="rId12" Type="http://schemas.openxmlformats.org/officeDocument/2006/relationships/image" Target="../media/image39.jp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2.svg"/><Relationship Id="rId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image" Target="../media/image4.sv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0.svg"/><Relationship Id="rId3" Type="http://schemas.openxmlformats.org/officeDocument/2006/relationships/image" Target="../media/image2.svg"/><Relationship Id="rId7" Type="http://schemas.openxmlformats.org/officeDocument/2006/relationships/image" Target="../media/image4.svg"/><Relationship Id="rId12"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2.svg"/><Relationship Id="rId5" Type="http://schemas.openxmlformats.org/officeDocument/2006/relationships/image" Target="../media/image8.sv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4.sv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diagramColors" Target="../diagrams/colors1.xml"/><Relationship Id="rId18" Type="http://schemas.openxmlformats.org/officeDocument/2006/relationships/image" Target="../media/image8.svg"/><Relationship Id="rId3" Type="http://schemas.openxmlformats.org/officeDocument/2006/relationships/image" Target="../media/image2.svg"/><Relationship Id="rId7" Type="http://schemas.openxmlformats.org/officeDocument/2006/relationships/image" Target="../media/image14.svg"/><Relationship Id="rId12" Type="http://schemas.openxmlformats.org/officeDocument/2006/relationships/diagramQuickStyle" Target="../diagrams/quickStyle1.xml"/><Relationship Id="rId17" Type="http://schemas.openxmlformats.org/officeDocument/2006/relationships/image" Target="../media/image7.png"/><Relationship Id="rId2" Type="http://schemas.openxmlformats.org/officeDocument/2006/relationships/image" Target="../media/image1.png"/><Relationship Id="rId16"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diagramLayout" Target="../diagrams/layout1.xml"/><Relationship Id="rId5" Type="http://schemas.openxmlformats.org/officeDocument/2006/relationships/image" Target="../media/image4.svg"/><Relationship Id="rId15" Type="http://schemas.openxmlformats.org/officeDocument/2006/relationships/image" Target="../media/image11.png"/><Relationship Id="rId10" Type="http://schemas.openxmlformats.org/officeDocument/2006/relationships/diagramData" Target="../diagrams/data1.xml"/><Relationship Id="rId4" Type="http://schemas.openxmlformats.org/officeDocument/2006/relationships/image" Target="../media/image3.png"/><Relationship Id="rId9" Type="http://schemas.openxmlformats.org/officeDocument/2006/relationships/image" Target="../media/image10.svg"/><Relationship Id="rId14" Type="http://schemas.microsoft.com/office/2007/relationships/diagramDrawing" Target="../diagrams/drawing1.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12.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5400000">
            <a:off x="5991990" y="124206"/>
            <a:ext cx="11416970" cy="14928422"/>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942849" y="1416522"/>
            <a:ext cx="14648764" cy="9877036"/>
          </a:xfrm>
          <a:custGeom>
            <a:avLst/>
            <a:gdLst/>
            <a:ahLst/>
            <a:cxnLst/>
            <a:rect l="l" t="t" r="r" b="b"/>
            <a:pathLst>
              <a:path w="9949233" h="5155511">
                <a:moveTo>
                  <a:pt x="0" y="0"/>
                </a:moveTo>
                <a:lnTo>
                  <a:pt x="9949232" y="0"/>
                </a:lnTo>
                <a:lnTo>
                  <a:pt x="9949232" y="5155512"/>
                </a:lnTo>
                <a:lnTo>
                  <a:pt x="0" y="51555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4" name="Freeform 4"/>
          <p:cNvSpPr/>
          <p:nvPr/>
        </p:nvSpPr>
        <p:spPr>
          <a:xfrm>
            <a:off x="2742964" y="835169"/>
            <a:ext cx="1154919" cy="1100323"/>
          </a:xfrm>
          <a:custGeom>
            <a:avLst/>
            <a:gdLst/>
            <a:ahLst/>
            <a:cxnLst/>
            <a:rect l="l" t="t" r="r" b="b"/>
            <a:pathLst>
              <a:path w="1154919" h="1100323">
                <a:moveTo>
                  <a:pt x="0" y="0"/>
                </a:moveTo>
                <a:lnTo>
                  <a:pt x="1154919" y="0"/>
                </a:lnTo>
                <a:lnTo>
                  <a:pt x="1154919" y="1100323"/>
                </a:lnTo>
                <a:lnTo>
                  <a:pt x="0" y="11003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329753">
            <a:off x="-275497" y="8336616"/>
            <a:ext cx="2327261" cy="2264983"/>
          </a:xfrm>
          <a:custGeom>
            <a:avLst/>
            <a:gdLst/>
            <a:ahLst/>
            <a:cxnLst/>
            <a:rect l="l" t="t" r="r" b="b"/>
            <a:pathLst>
              <a:path w="2751926" h="2726909">
                <a:moveTo>
                  <a:pt x="0" y="0"/>
                </a:moveTo>
                <a:lnTo>
                  <a:pt x="2751926" y="0"/>
                </a:lnTo>
                <a:lnTo>
                  <a:pt x="2751926" y="2726909"/>
                </a:lnTo>
                <a:lnTo>
                  <a:pt x="0" y="27269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7" name="Freeform 7"/>
          <p:cNvSpPr/>
          <p:nvPr/>
        </p:nvSpPr>
        <p:spPr>
          <a:xfrm rot="1049988">
            <a:off x="15967921" y="-22782"/>
            <a:ext cx="2768386" cy="3487731"/>
          </a:xfrm>
          <a:custGeom>
            <a:avLst/>
            <a:gdLst/>
            <a:ahLst/>
            <a:cxnLst/>
            <a:rect l="l" t="t" r="r" b="b"/>
            <a:pathLst>
              <a:path w="4511084" h="5683256">
                <a:moveTo>
                  <a:pt x="0" y="0"/>
                </a:moveTo>
                <a:lnTo>
                  <a:pt x="4511085" y="0"/>
                </a:lnTo>
                <a:lnTo>
                  <a:pt x="4511085" y="5683256"/>
                </a:lnTo>
                <a:lnTo>
                  <a:pt x="0" y="5683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6737319">
            <a:off x="647195" y="4955884"/>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rot="8677424">
            <a:off x="-1415710" y="-1848331"/>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680471" y="2399376"/>
            <a:ext cx="2310020" cy="254486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770339">
            <a:off x="4517082" y="-321606"/>
            <a:ext cx="1978504" cy="1884974"/>
          </a:xfrm>
          <a:custGeom>
            <a:avLst/>
            <a:gdLst/>
            <a:ahLst/>
            <a:cxnLst/>
            <a:rect l="l" t="t" r="r" b="b"/>
            <a:pathLst>
              <a:path w="1978504" h="1884974">
                <a:moveTo>
                  <a:pt x="0" y="0"/>
                </a:moveTo>
                <a:lnTo>
                  <a:pt x="1978503" y="0"/>
                </a:lnTo>
                <a:lnTo>
                  <a:pt x="1978503" y="1884975"/>
                </a:lnTo>
                <a:lnTo>
                  <a:pt x="0" y="188497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dirty="0"/>
          </a:p>
        </p:txBody>
      </p:sp>
      <p:sp>
        <p:nvSpPr>
          <p:cNvPr id="12" name="Freeform 12"/>
          <p:cNvSpPr/>
          <p:nvPr/>
        </p:nvSpPr>
        <p:spPr>
          <a:xfrm rot="2700000">
            <a:off x="11422985" y="418817"/>
            <a:ext cx="979994" cy="933667"/>
          </a:xfrm>
          <a:custGeom>
            <a:avLst/>
            <a:gdLst/>
            <a:ahLst/>
            <a:cxnLst/>
            <a:rect l="l" t="t" r="r" b="b"/>
            <a:pathLst>
              <a:path w="979994" h="933667">
                <a:moveTo>
                  <a:pt x="0" y="0"/>
                </a:moveTo>
                <a:lnTo>
                  <a:pt x="979993" y="0"/>
                </a:lnTo>
                <a:lnTo>
                  <a:pt x="979993" y="933667"/>
                </a:lnTo>
                <a:lnTo>
                  <a:pt x="0" y="93366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5" name="Google Shape;265;p27">
            <a:extLst>
              <a:ext uri="{FF2B5EF4-FFF2-40B4-BE49-F238E27FC236}">
                <a16:creationId xmlns:a16="http://schemas.microsoft.com/office/drawing/2014/main" id="{D41E6B5C-5A0C-F921-6CF4-A8C65092F171}"/>
              </a:ext>
            </a:extLst>
          </p:cNvPr>
          <p:cNvSpPr txBox="1">
            <a:spLocks/>
          </p:cNvSpPr>
          <p:nvPr/>
        </p:nvSpPr>
        <p:spPr>
          <a:xfrm>
            <a:off x="4023536" y="3467524"/>
            <a:ext cx="13045264" cy="1573189"/>
          </a:xfrm>
          <a:prstGeom prst="rect">
            <a:avLst/>
          </a:prstGeom>
        </p:spPr>
        <p:txBody>
          <a:bodyPr spcFirstLastPara="1" wrap="square" lIns="91425" tIns="91425" rIns="91425" bIns="91425"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latin typeface="Arial" panose="020B0604020202020204" pitchFamily="34" charset="0"/>
                <a:ea typeface="Dela Gothic One" panose="020B0604020202020204" charset="-128"/>
                <a:cs typeface="Arial" panose="020B0604020202020204" pitchFamily="34" charset="0"/>
              </a:rPr>
              <a:t>XÂY DỰNG HỆ THỐNG QUẢN LÝ THẾ GIỚI ẢO TRONG TRUYỆN ONLINE</a:t>
            </a:r>
          </a:p>
        </p:txBody>
      </p:sp>
      <p:sp>
        <p:nvSpPr>
          <p:cNvPr id="16" name="Google Shape;266;p27">
            <a:extLst>
              <a:ext uri="{FF2B5EF4-FFF2-40B4-BE49-F238E27FC236}">
                <a16:creationId xmlns:a16="http://schemas.microsoft.com/office/drawing/2014/main" id="{288492EA-7748-D0D6-72EC-91CFF95E9C13}"/>
              </a:ext>
            </a:extLst>
          </p:cNvPr>
          <p:cNvSpPr txBox="1">
            <a:spLocks/>
          </p:cNvSpPr>
          <p:nvPr/>
        </p:nvSpPr>
        <p:spPr>
          <a:xfrm>
            <a:off x="8477865" y="2520102"/>
            <a:ext cx="3506788" cy="805200"/>
          </a:xfrm>
          <a:prstGeom prst="rect">
            <a:avLst/>
          </a:prstGeom>
        </p:spPr>
        <p:txBody>
          <a:bodyPr spcFirstLastPara="1" wrap="square" lIns="91425" tIns="91425" rIns="91425" bIns="9142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vi-VN" sz="4000" b="1" dirty="0">
                <a:latin typeface="+mn-lt"/>
              </a:rPr>
              <a:t>MÃ ĐỀ TÀI </a:t>
            </a:r>
            <a:r>
              <a:rPr lang="en-US" sz="4000" b="1" dirty="0">
                <a:latin typeface="+mn-lt"/>
              </a:rPr>
              <a:t>19</a:t>
            </a:r>
            <a:endParaRPr lang="vi-VN" sz="4000" b="1" dirty="0">
              <a:latin typeface="+mn-lt"/>
            </a:endParaRPr>
          </a:p>
        </p:txBody>
      </p:sp>
      <p:sp>
        <p:nvSpPr>
          <p:cNvPr id="18" name="Freeform 12">
            <a:extLst>
              <a:ext uri="{FF2B5EF4-FFF2-40B4-BE49-F238E27FC236}">
                <a16:creationId xmlns:a16="http://schemas.microsoft.com/office/drawing/2014/main" id="{807EC6C1-BA11-505E-845C-AE9454C0376F}"/>
              </a:ext>
            </a:extLst>
          </p:cNvPr>
          <p:cNvSpPr/>
          <p:nvPr/>
        </p:nvSpPr>
        <p:spPr>
          <a:xfrm rot="2700000">
            <a:off x="14179996" y="445928"/>
            <a:ext cx="979994" cy="933667"/>
          </a:xfrm>
          <a:custGeom>
            <a:avLst/>
            <a:gdLst/>
            <a:ahLst/>
            <a:cxnLst/>
            <a:rect l="l" t="t" r="r" b="b"/>
            <a:pathLst>
              <a:path w="979994" h="933667">
                <a:moveTo>
                  <a:pt x="0" y="0"/>
                </a:moveTo>
                <a:lnTo>
                  <a:pt x="979993" y="0"/>
                </a:lnTo>
                <a:lnTo>
                  <a:pt x="979993" y="933667"/>
                </a:lnTo>
                <a:lnTo>
                  <a:pt x="0" y="93366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9" name="Google Shape;264;p27">
            <a:extLst>
              <a:ext uri="{FF2B5EF4-FFF2-40B4-BE49-F238E27FC236}">
                <a16:creationId xmlns:a16="http://schemas.microsoft.com/office/drawing/2014/main" id="{A6983E28-5532-03F4-DFD4-F3DAA7A1840F}"/>
              </a:ext>
            </a:extLst>
          </p:cNvPr>
          <p:cNvSpPr/>
          <p:nvPr/>
        </p:nvSpPr>
        <p:spPr>
          <a:xfrm>
            <a:off x="5255944" y="5495620"/>
            <a:ext cx="10365056" cy="4692409"/>
          </a:xfrm>
          <a:prstGeom prst="roundRect">
            <a:avLst>
              <a:gd name="adj" fmla="val 50000"/>
            </a:avLst>
          </a:prstGeom>
          <a:solidFill>
            <a:schemeClr val="accent6">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267;p27">
            <a:extLst>
              <a:ext uri="{FF2B5EF4-FFF2-40B4-BE49-F238E27FC236}">
                <a16:creationId xmlns:a16="http://schemas.microsoft.com/office/drawing/2014/main" id="{95888A54-801D-D78D-9C73-E6378E7054E2}"/>
              </a:ext>
            </a:extLst>
          </p:cNvPr>
          <p:cNvSpPr txBox="1">
            <a:spLocks/>
          </p:cNvSpPr>
          <p:nvPr/>
        </p:nvSpPr>
        <p:spPr>
          <a:xfrm>
            <a:off x="7025819" y="5734309"/>
            <a:ext cx="8164252" cy="3787164"/>
          </a:xfrm>
          <a:prstGeom prst="rect">
            <a:avLst/>
          </a:prstGeom>
        </p:spPr>
        <p:txBody>
          <a:bodyPr spcFirstLastPara="1" wrap="square" lIns="91425" tIns="91425" rIns="91425" bIns="91425" anchor="ctr"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vi-VN" sz="2800" b="1" dirty="0">
                <a:latin typeface="Arial" panose="020B0604020202020204" pitchFamily="34" charset="0"/>
                <a:cs typeface="Arial" panose="020B0604020202020204" pitchFamily="34" charset="0"/>
              </a:rPr>
              <a:t>Nhóm:</a:t>
            </a:r>
          </a:p>
          <a:p>
            <a:pPr marL="0" indent="0">
              <a:buNone/>
            </a:pPr>
            <a:r>
              <a:rPr lang="en-US" sz="2800" b="1" dirty="0">
                <a:latin typeface="Arial" panose="020B0604020202020204" pitchFamily="34" charset="0"/>
                <a:cs typeface="Arial" panose="020B0604020202020204" pitchFamily="34" charset="0"/>
              </a:rPr>
              <a:t>Ngô Huỳnh Quốc Khang 110122092 DA22TTD</a:t>
            </a:r>
          </a:p>
          <a:p>
            <a:pPr marL="0" indent="0">
              <a:buNone/>
            </a:pPr>
            <a:r>
              <a:rPr lang="en-US" sz="2800" b="1" dirty="0">
                <a:latin typeface="Arial" panose="020B0604020202020204" pitchFamily="34" charset="0"/>
                <a:cs typeface="Arial" panose="020B0604020202020204" pitchFamily="34" charset="0"/>
              </a:rPr>
              <a:t>Phạm Duy Tân 110122243 DA22TTD</a:t>
            </a:r>
          </a:p>
          <a:p>
            <a:pPr marL="0" indent="0">
              <a:buNone/>
            </a:pPr>
            <a:r>
              <a:rPr lang="en-US" sz="2800" b="1" dirty="0">
                <a:latin typeface="Arial" panose="020B0604020202020204" pitchFamily="34" charset="0"/>
                <a:cs typeface="Arial" panose="020B0604020202020204" pitchFamily="34" charset="0"/>
              </a:rPr>
              <a:t>Nguyễn Đinh Tuấn Khoa 110122094 DA22TTD</a:t>
            </a:r>
            <a:endParaRPr lang="vi-VN" sz="2800" b="1" dirty="0">
              <a:latin typeface="Arial" panose="020B0604020202020204" pitchFamily="34" charset="0"/>
              <a:cs typeface="Arial" panose="020B0604020202020204" pitchFamily="34" charset="0"/>
            </a:endParaRPr>
          </a:p>
          <a:p>
            <a:pPr marL="0" indent="0">
              <a:lnSpc>
                <a:spcPct val="150000"/>
              </a:lnSpc>
              <a:buNone/>
            </a:pPr>
            <a:r>
              <a:rPr lang="vi-VN" sz="2800" b="1" dirty="0">
                <a:latin typeface="Arial" panose="020B0604020202020204" pitchFamily="34" charset="0"/>
                <a:cs typeface="Arial" panose="020B0604020202020204" pitchFamily="34" charset="0"/>
              </a:rPr>
              <a:t>Giáo viên hướng dẫn:</a:t>
            </a:r>
          </a:p>
          <a:p>
            <a:pPr marL="0" indent="0">
              <a:buNone/>
            </a:pPr>
            <a:r>
              <a:rPr lang="en-US" sz="2800" b="1" dirty="0" err="1">
                <a:latin typeface="Arial" panose="020B0604020202020204" pitchFamily="34" charset="0"/>
                <a:cs typeface="Arial" panose="020B0604020202020204" pitchFamily="34" charset="0"/>
              </a:rPr>
              <a:t>Ths</a:t>
            </a:r>
            <a:r>
              <a:rPr lang="en-US" sz="2800" b="1" dirty="0">
                <a:latin typeface="Arial" panose="020B0604020202020204" pitchFamily="34" charset="0"/>
                <a:cs typeface="Arial" panose="020B0604020202020204" pitchFamily="34" charset="0"/>
              </a:rPr>
              <a:t>. Phạm Thị Trúc Mai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10800000">
            <a:off x="-6565617" y="-1614385"/>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rot="-1770339">
            <a:off x="2174684" y="376829"/>
            <a:ext cx="1638071" cy="1560635"/>
          </a:xfrm>
          <a:custGeom>
            <a:avLst/>
            <a:gdLst/>
            <a:ahLst/>
            <a:cxnLst/>
            <a:rect l="l" t="t" r="r" b="b"/>
            <a:pathLst>
              <a:path w="1638071" h="1560635">
                <a:moveTo>
                  <a:pt x="0" y="0"/>
                </a:moveTo>
                <a:lnTo>
                  <a:pt x="1638071" y="0"/>
                </a:lnTo>
                <a:lnTo>
                  <a:pt x="1638071" y="1560636"/>
                </a:lnTo>
                <a:lnTo>
                  <a:pt x="0" y="156063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rot="-2245019" flipH="1">
            <a:off x="14830962" y="5883272"/>
            <a:ext cx="4511084" cy="5683256"/>
          </a:xfrm>
          <a:custGeom>
            <a:avLst/>
            <a:gdLst/>
            <a:ahLst/>
            <a:cxnLst/>
            <a:rect l="l" t="t" r="r" b="b"/>
            <a:pathLst>
              <a:path w="4511084" h="5683256">
                <a:moveTo>
                  <a:pt x="4511084" y="0"/>
                </a:moveTo>
                <a:lnTo>
                  <a:pt x="0" y="0"/>
                </a:lnTo>
                <a:lnTo>
                  <a:pt x="0" y="5683256"/>
                </a:lnTo>
                <a:lnTo>
                  <a:pt x="4511084" y="5683256"/>
                </a:lnTo>
                <a:lnTo>
                  <a:pt x="4511084"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Freeform 11"/>
          <p:cNvSpPr/>
          <p:nvPr/>
        </p:nvSpPr>
        <p:spPr>
          <a:xfrm rot="16843991">
            <a:off x="3996917" y="6032823"/>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7" name="TextBox 16">
            <a:extLst>
              <a:ext uri="{FF2B5EF4-FFF2-40B4-BE49-F238E27FC236}">
                <a16:creationId xmlns:a16="http://schemas.microsoft.com/office/drawing/2014/main" id="{CFA32BDA-DF1D-92EE-FEC3-E204AAC193F6}"/>
              </a:ext>
            </a:extLst>
          </p:cNvPr>
          <p:cNvSpPr txBox="1"/>
          <p:nvPr/>
        </p:nvSpPr>
        <p:spPr>
          <a:xfrm>
            <a:off x="4883427" y="1885703"/>
            <a:ext cx="5452377" cy="707886"/>
          </a:xfrm>
          <a:prstGeom prst="rect">
            <a:avLst/>
          </a:prstGeom>
          <a:noFill/>
        </p:spPr>
        <p:txBody>
          <a:bodyPr wrap="square">
            <a:spAutoFit/>
          </a:bodyPr>
          <a:lstStyle/>
          <a:p>
            <a:r>
              <a:rPr lang="vi-VN" sz="4000" b="1" dirty="0"/>
              <a:t>LÝ DO CHỌN ĐỀ TÀI</a:t>
            </a:r>
            <a:endParaRPr lang="en-US" sz="4000" b="1" dirty="0"/>
          </a:p>
        </p:txBody>
      </p:sp>
      <p:sp>
        <p:nvSpPr>
          <p:cNvPr id="5" name="Rectangle 2">
            <a:extLst>
              <a:ext uri="{FF2B5EF4-FFF2-40B4-BE49-F238E27FC236}">
                <a16:creationId xmlns:a16="http://schemas.microsoft.com/office/drawing/2014/main" id="{6A2B4C0D-6B24-1634-2FC8-4321A59F7284}"/>
              </a:ext>
            </a:extLst>
          </p:cNvPr>
          <p:cNvSpPr>
            <a:spLocks noChangeArrowheads="1"/>
          </p:cNvSpPr>
          <p:nvPr/>
        </p:nvSpPr>
        <p:spPr bwMode="auto">
          <a:xfrm>
            <a:off x="4913907" y="3079032"/>
            <a:ext cx="1305415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Quản </a:t>
            </a:r>
            <a:r>
              <a:rPr kumimoji="0" lang="en-US" altLang="en-US" sz="2800" b="0" i="0" u="none" strike="noStrike" cap="none" normalizeH="0" baseline="0" dirty="0" err="1">
                <a:ln>
                  <a:noFill/>
                </a:ln>
                <a:solidFill>
                  <a:schemeClr val="tx1"/>
                </a:solidFill>
                <a:effectLst/>
                <a:latin typeface="Arial" panose="020B0604020202020204" pitchFamily="34" charset="0"/>
              </a:rPr>
              <a:t>lý</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thủ</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công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thế</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giới</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ảo</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trong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truyện</a:t>
            </a:r>
            <a:r>
              <a:rPr kumimoji="0" lang="en-US" altLang="en-US" sz="2800" b="0" i="0" u="none" strike="noStrike" cap="none" normalizeH="0" baseline="0" dirty="0">
                <a:ln>
                  <a:noFill/>
                </a:ln>
                <a:solidFill>
                  <a:schemeClr val="tx1"/>
                </a:solidFill>
                <a:effectLst/>
                <a:latin typeface="Arial" panose="020B0604020202020204" pitchFamily="34" charset="0"/>
              </a:rPr>
              <a:t> online </a:t>
            </a:r>
            <a:r>
              <a:rPr kumimoji="0" lang="en-US" altLang="en-US" sz="2800" b="0" i="0" u="none" strike="noStrike" cap="none" normalizeH="0" baseline="0" dirty="0" err="1">
                <a:ln>
                  <a:noFill/>
                </a:ln>
                <a:solidFill>
                  <a:schemeClr val="tx1"/>
                </a:solidFill>
                <a:effectLst/>
                <a:latin typeface="Arial" panose="020B0604020202020204" pitchFamily="34" charset="0"/>
              </a:rPr>
              <a:t>dễ</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sai</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sót</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thiếu</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nhất</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quán</a:t>
            </a:r>
            <a:r>
              <a:rPr lang="en-US" altLang="en-US" sz="2800" dirty="0">
                <a:latin typeface="Arial" panose="020B0604020202020204" pitchFamily="34"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Truyện</a:t>
            </a:r>
            <a:r>
              <a:rPr kumimoji="0" lang="en-US" altLang="en-US" sz="2800" b="0" i="0" u="none" strike="noStrike" cap="none" normalizeH="0" baseline="0" dirty="0">
                <a:ln>
                  <a:noFill/>
                </a:ln>
                <a:solidFill>
                  <a:schemeClr val="tx1"/>
                </a:solidFill>
                <a:effectLst/>
                <a:latin typeface="Arial" panose="020B0604020202020204" pitchFamily="34" charset="0"/>
              </a:rPr>
              <a:t> online </a:t>
            </a:r>
            <a:r>
              <a:rPr kumimoji="0" lang="en-US" altLang="en-US" sz="2800" b="0" i="0" u="none" strike="noStrike" cap="none" normalizeH="0" baseline="0" dirty="0" err="1">
                <a:ln>
                  <a:noFill/>
                </a:ln>
                <a:solidFill>
                  <a:schemeClr val="tx1"/>
                </a:solidFill>
                <a:effectLst/>
                <a:latin typeface="Arial" panose="020B0604020202020204" pitchFamily="34" charset="0"/>
              </a:rPr>
              <a:t>ngày</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càng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dài</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phức</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tạp</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nhiều</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nhân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vật</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môn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phái</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địa</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danh</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Nhu </a:t>
            </a:r>
            <a:r>
              <a:rPr kumimoji="0" lang="en-US" altLang="en-US" sz="2800" b="0" i="0" u="none" strike="noStrike" cap="none" normalizeH="0" baseline="0" dirty="0" err="1">
                <a:ln>
                  <a:noFill/>
                </a:ln>
                <a:solidFill>
                  <a:schemeClr val="tx1"/>
                </a:solidFill>
                <a:effectLst/>
                <a:latin typeface="Arial" panose="020B0604020202020204" pitchFamily="34" charset="0"/>
              </a:rPr>
              <a:t>cầu</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hỗ</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trợ</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tác</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giả</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quản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lý</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tập</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trung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và</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giảm</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tải</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sáng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tác</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cao</a:t>
            </a:r>
            <a:r>
              <a:rPr lang="en-US" altLang="en-US" sz="2800" dirty="0">
                <a:latin typeface="Arial" panose="020B0604020202020204" pitchFamily="34"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Arial" panose="020B0604020202020204" pitchFamily="34" charset="0"/>
              </a:rPr>
              <a:t>+ </a:t>
            </a:r>
            <a:r>
              <a:rPr kumimoji="0" lang="en-US" altLang="en-US" sz="2800" b="0" i="0" u="none" strike="noStrike" cap="none" normalizeH="0" baseline="0" dirty="0">
                <a:ln>
                  <a:noFill/>
                </a:ln>
                <a:solidFill>
                  <a:schemeClr val="tx1"/>
                </a:solidFill>
                <a:effectLst/>
                <a:latin typeface="Arial" panose="020B0604020202020204" pitchFamily="34" charset="0"/>
              </a:rPr>
              <a:t>Tin </a:t>
            </a:r>
            <a:r>
              <a:rPr kumimoji="0" lang="en-US" altLang="en-US" sz="2800" b="0" i="0" u="none" strike="noStrike" cap="none" normalizeH="0" baseline="0" dirty="0" err="1">
                <a:ln>
                  <a:noFill/>
                </a:ln>
                <a:solidFill>
                  <a:schemeClr val="tx1"/>
                </a:solidFill>
                <a:effectLst/>
                <a:latin typeface="Arial" panose="020B0604020202020204" pitchFamily="34" charset="0"/>
              </a:rPr>
              <a:t>học</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hóa</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quản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lý</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tích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hợp</a:t>
            </a:r>
            <a:r>
              <a:rPr kumimoji="0" lang="en-US" altLang="en-US" sz="2800" b="0" i="0" u="none" strike="noStrike" cap="none" normalizeH="0" baseline="0" dirty="0">
                <a:ln>
                  <a:noFill/>
                </a:ln>
                <a:solidFill>
                  <a:schemeClr val="tx1"/>
                </a:solidFill>
                <a:effectLst/>
                <a:latin typeface="Arial" panose="020B0604020202020204" pitchFamily="34" charset="0"/>
              </a:rPr>
              <a:t> AI (Gemini) </a:t>
            </a:r>
            <a:r>
              <a:rPr kumimoji="0" lang="en-US" altLang="en-US" sz="2800" b="0" i="0" u="none" strike="noStrike" cap="none" normalizeH="0" baseline="0" dirty="0" err="1">
                <a:ln>
                  <a:noFill/>
                </a:ln>
                <a:solidFill>
                  <a:schemeClr val="tx1"/>
                </a:solidFill>
                <a:effectLst/>
                <a:latin typeface="Arial" panose="020B0604020202020204" pitchFamily="34" charset="0"/>
              </a:rPr>
              <a:t>gợi</a:t>
            </a:r>
            <a:r>
              <a:rPr kumimoji="0" lang="en-US" altLang="en-US" sz="2800" b="0" i="0" u="none" strike="noStrike" cap="none" normalizeH="0" baseline="0" dirty="0">
                <a:ln>
                  <a:noFill/>
                </a:ln>
                <a:solidFill>
                  <a:schemeClr val="tx1"/>
                </a:solidFill>
                <a:effectLst/>
                <a:latin typeface="Arial" panose="020B0604020202020204" pitchFamily="34" charset="0"/>
              </a:rPr>
              <a:t> ý/</a:t>
            </a:r>
            <a:r>
              <a:rPr kumimoji="0" lang="en-US" altLang="en-US" sz="2800" b="0" i="0" u="none" strike="noStrike" cap="none" normalizeH="0" baseline="0" dirty="0" err="1">
                <a:ln>
                  <a:noFill/>
                </a:ln>
                <a:solidFill>
                  <a:schemeClr val="tx1"/>
                </a:solidFill>
                <a:effectLst/>
                <a:latin typeface="Arial" panose="020B0604020202020204" pitchFamily="34" charset="0"/>
              </a:rPr>
              <a:t>tạo</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mô</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tả</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tự</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động</a:t>
            </a:r>
            <a:r>
              <a:rPr lang="en-US" altLang="en-US" sz="2800" dirty="0">
                <a:latin typeface="Arial" panose="020B0604020202020204" pitchFamily="34"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Áp</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dụng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kiến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thức</a:t>
            </a:r>
            <a:r>
              <a:rPr kumimoji="0" lang="en-US" altLang="en-US" sz="2800" b="0" i="0" u="none" strike="noStrike" cap="none" normalizeH="0" baseline="0" dirty="0">
                <a:ln>
                  <a:noFill/>
                </a:ln>
                <a:solidFill>
                  <a:schemeClr val="tx1"/>
                </a:solidFill>
                <a:effectLst/>
                <a:latin typeface="Arial" panose="020B0604020202020204" pitchFamily="34" charset="0"/>
              </a:rPr>
              <a:t> web (Laravel MVC), CSDL </a:t>
            </a:r>
            <a:r>
              <a:rPr kumimoji="0" lang="en-US" altLang="en-US" sz="2800" b="0" i="0" u="none" strike="noStrike" cap="none" normalizeH="0" baseline="0" dirty="0" err="1">
                <a:ln>
                  <a:noFill/>
                </a:ln>
                <a:solidFill>
                  <a:schemeClr val="tx1"/>
                </a:solidFill>
                <a:effectLst/>
                <a:latin typeface="Arial" panose="020B0604020202020204" pitchFamily="34" charset="0"/>
              </a:rPr>
              <a:t>và</a:t>
            </a:r>
            <a:r>
              <a:rPr kumimoji="0" lang="en-US" altLang="en-US" sz="2800" b="0" i="0" u="none" strike="noStrike" cap="none" normalizeH="0" baseline="0" dirty="0">
                <a:ln>
                  <a:noFill/>
                </a:ln>
                <a:solidFill>
                  <a:schemeClr val="tx1"/>
                </a:solidFill>
                <a:effectLst/>
                <a:latin typeface="Arial" panose="020B0604020202020204" pitchFamily="34" charset="0"/>
              </a:rPr>
              <a:t> AI </a:t>
            </a:r>
            <a:r>
              <a:rPr kumimoji="0" lang="en-US" altLang="en-US" sz="2800" b="0" i="0" u="none" strike="noStrike" cap="none" normalizeH="0" baseline="0" dirty="0" err="1">
                <a:ln>
                  <a:noFill/>
                </a:ln>
                <a:solidFill>
                  <a:schemeClr val="tx1"/>
                </a:solidFill>
                <a:effectLst/>
                <a:latin typeface="Arial" panose="020B0604020202020204" pitchFamily="34" charset="0"/>
              </a:rPr>
              <a:t>vào</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bài</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toán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thực</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tế</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hỗ</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trợ</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cộng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đồng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sáng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tác</a:t>
            </a:r>
            <a:r>
              <a:rPr lang="en-US" altLang="en-US" sz="2800" dirty="0">
                <a:latin typeface="Arial" panose="020B0604020202020204" pitchFamily="34"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Freeform 9">
            <a:extLst>
              <a:ext uri="{FF2B5EF4-FFF2-40B4-BE49-F238E27FC236}">
                <a16:creationId xmlns:a16="http://schemas.microsoft.com/office/drawing/2014/main" id="{95DEFEAF-8CF7-5B3F-2ECC-A436B1453E31}"/>
              </a:ext>
            </a:extLst>
          </p:cNvPr>
          <p:cNvSpPr/>
          <p:nvPr/>
        </p:nvSpPr>
        <p:spPr>
          <a:xfrm rot="19829661">
            <a:off x="17468965" y="-278354"/>
            <a:ext cx="1638071" cy="1560635"/>
          </a:xfrm>
          <a:custGeom>
            <a:avLst/>
            <a:gdLst/>
            <a:ahLst/>
            <a:cxnLst/>
            <a:rect l="l" t="t" r="r" b="b"/>
            <a:pathLst>
              <a:path w="1638071" h="1560635">
                <a:moveTo>
                  <a:pt x="0" y="0"/>
                </a:moveTo>
                <a:lnTo>
                  <a:pt x="1638071" y="0"/>
                </a:lnTo>
                <a:lnTo>
                  <a:pt x="1638071" y="1560636"/>
                </a:lnTo>
                <a:lnTo>
                  <a:pt x="0" y="156063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8879652">
            <a:off x="-6136422" y="5243507"/>
            <a:ext cx="9559336" cy="13515771"/>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3" name="Freeform 3"/>
          <p:cNvSpPr/>
          <p:nvPr/>
        </p:nvSpPr>
        <p:spPr>
          <a:xfrm rot="-1243308">
            <a:off x="108734" y="7107043"/>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Freeform 4"/>
          <p:cNvSpPr/>
          <p:nvPr/>
        </p:nvSpPr>
        <p:spPr>
          <a:xfrm rot="-1912215">
            <a:off x="15966199" y="-7499984"/>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rot="105415">
            <a:off x="14294840" y="4180159"/>
            <a:ext cx="4730679" cy="4687672"/>
          </a:xfrm>
          <a:custGeom>
            <a:avLst/>
            <a:gdLst/>
            <a:ahLst/>
            <a:cxnLst/>
            <a:rect l="l" t="t" r="r" b="b"/>
            <a:pathLst>
              <a:path w="4730679" h="4687672">
                <a:moveTo>
                  <a:pt x="0" y="0"/>
                </a:moveTo>
                <a:lnTo>
                  <a:pt x="4730679" y="0"/>
                </a:lnTo>
                <a:lnTo>
                  <a:pt x="4730679" y="4687672"/>
                </a:lnTo>
                <a:lnTo>
                  <a:pt x="0" y="468767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8" name="Group 8"/>
          <p:cNvGrpSpPr/>
          <p:nvPr/>
        </p:nvGrpSpPr>
        <p:grpSpPr>
          <a:xfrm>
            <a:off x="14509182" y="5421658"/>
            <a:ext cx="4297473" cy="4198005"/>
            <a:chOff x="0" y="0"/>
            <a:chExt cx="4828540" cy="4716780"/>
          </a:xfrm>
        </p:grpSpPr>
        <p:sp>
          <p:nvSpPr>
            <p:cNvPr id="9" name="Freeform 9"/>
            <p:cNvSpPr/>
            <p:nvPr/>
          </p:nvSpPr>
          <p:spPr>
            <a:xfrm>
              <a:off x="0" y="-7620"/>
              <a:ext cx="4833620" cy="4726940"/>
            </a:xfrm>
            <a:custGeom>
              <a:avLst/>
              <a:gdLst/>
              <a:ahLst/>
              <a:cxnLst/>
              <a:rect l="l" t="t" r="r" b="b"/>
              <a:pathLst>
                <a:path w="4833620" h="472694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80"/>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10" y="97790"/>
                    <a:pt x="4030980" y="97790"/>
                    <a:pt x="4119880" y="113030"/>
                  </a:cubicBezTo>
                  <a:cubicBezTo>
                    <a:pt x="4173220" y="121920"/>
                    <a:pt x="4227830" y="138430"/>
                    <a:pt x="4273550" y="165100"/>
                  </a:cubicBezTo>
                  <a:cubicBezTo>
                    <a:pt x="4323080" y="193040"/>
                    <a:pt x="4361180" y="238760"/>
                    <a:pt x="4405630" y="276860"/>
                  </a:cubicBezTo>
                  <a:cubicBezTo>
                    <a:pt x="4422140"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0" y="4281170"/>
                    <a:pt x="4535170" y="4335780"/>
                    <a:pt x="4491990" y="4382770"/>
                  </a:cubicBezTo>
                  <a:cubicBezTo>
                    <a:pt x="4453890" y="4424680"/>
                    <a:pt x="4411980" y="4466590"/>
                    <a:pt x="4345940" y="4467860"/>
                  </a:cubicBezTo>
                  <a:cubicBezTo>
                    <a:pt x="4330700" y="4467860"/>
                    <a:pt x="4316730" y="4483100"/>
                    <a:pt x="4301490" y="4490720"/>
                  </a:cubicBezTo>
                  <a:cubicBezTo>
                    <a:pt x="4236720" y="4518660"/>
                    <a:pt x="4169410" y="4542790"/>
                    <a:pt x="4105910" y="4573270"/>
                  </a:cubicBezTo>
                  <a:cubicBezTo>
                    <a:pt x="3989070" y="4629150"/>
                    <a:pt x="3863340" y="4638040"/>
                    <a:pt x="3737610" y="4643120"/>
                  </a:cubicBezTo>
                  <a:cubicBezTo>
                    <a:pt x="3689350" y="4645660"/>
                    <a:pt x="3639820" y="4641850"/>
                    <a:pt x="3591560" y="4645660"/>
                  </a:cubicBezTo>
                  <a:cubicBezTo>
                    <a:pt x="3567430" y="4646930"/>
                    <a:pt x="3544570" y="4658360"/>
                    <a:pt x="3521710" y="4663440"/>
                  </a:cubicBezTo>
                  <a:cubicBezTo>
                    <a:pt x="3511550" y="4665980"/>
                    <a:pt x="3501390" y="4664710"/>
                    <a:pt x="3489960" y="4665980"/>
                  </a:cubicBezTo>
                  <a:cubicBezTo>
                    <a:pt x="3474720" y="4667250"/>
                    <a:pt x="3459480" y="4671060"/>
                    <a:pt x="3444240" y="4669790"/>
                  </a:cubicBezTo>
                  <a:cubicBezTo>
                    <a:pt x="3429000" y="4667250"/>
                    <a:pt x="3418840" y="4662170"/>
                    <a:pt x="3416300" y="4662170"/>
                  </a:cubicBezTo>
                  <a:close/>
                </a:path>
              </a:pathLst>
            </a:custGeom>
            <a:blipFill>
              <a:blip r:embed="rId9"/>
              <a:stretch>
                <a:fillRect l="-23133" r="-23133"/>
              </a:stretch>
            </a:blipFill>
          </p:spPr>
        </p:sp>
      </p:grpSp>
      <p:sp>
        <p:nvSpPr>
          <p:cNvPr id="13" name="TextBox 12">
            <a:extLst>
              <a:ext uri="{FF2B5EF4-FFF2-40B4-BE49-F238E27FC236}">
                <a16:creationId xmlns:a16="http://schemas.microsoft.com/office/drawing/2014/main" id="{BE479245-91C4-2703-1FA3-644893DAFC0D}"/>
              </a:ext>
            </a:extLst>
          </p:cNvPr>
          <p:cNvSpPr txBox="1"/>
          <p:nvPr/>
        </p:nvSpPr>
        <p:spPr>
          <a:xfrm>
            <a:off x="2514600" y="1440196"/>
            <a:ext cx="4724400" cy="707886"/>
          </a:xfrm>
          <a:prstGeom prst="rect">
            <a:avLst/>
          </a:prstGeom>
          <a:noFill/>
        </p:spPr>
        <p:txBody>
          <a:bodyPr wrap="square">
            <a:spAutoFit/>
          </a:bodyPr>
          <a:lstStyle/>
          <a:p>
            <a:r>
              <a:rPr lang="vi-VN" sz="4000" b="1" dirty="0"/>
              <a:t>MỤC TIÊU  ĐỀ TÀI</a:t>
            </a:r>
            <a:endParaRPr lang="en-US" sz="4000" b="1" dirty="0"/>
          </a:p>
        </p:txBody>
      </p:sp>
      <p:sp>
        <p:nvSpPr>
          <p:cNvPr id="6" name="TextBox 5">
            <a:extLst>
              <a:ext uri="{FF2B5EF4-FFF2-40B4-BE49-F238E27FC236}">
                <a16:creationId xmlns:a16="http://schemas.microsoft.com/office/drawing/2014/main" id="{27C1030C-B665-B3FC-1439-F9F83A55AABC}"/>
              </a:ext>
            </a:extLst>
          </p:cNvPr>
          <p:cNvSpPr txBox="1"/>
          <p:nvPr/>
        </p:nvSpPr>
        <p:spPr>
          <a:xfrm>
            <a:off x="2514600" y="2918928"/>
            <a:ext cx="12914102" cy="3970318"/>
          </a:xfrm>
          <a:prstGeom prst="rect">
            <a:avLst/>
          </a:prstGeom>
          <a:noFill/>
        </p:spPr>
        <p:txBody>
          <a:bodyPr wrap="square">
            <a:spAutoFit/>
          </a:bodyPr>
          <a:lstStyle/>
          <a:p>
            <a:pPr>
              <a:buNone/>
            </a:pPr>
            <a:r>
              <a:rPr lang="vi-VN" sz="2800" dirty="0">
                <a:effectLst/>
              </a:rPr>
              <a:t>Xây dựng hệ thống quản lý thế giới ảo trong truyện online</a:t>
            </a:r>
            <a:r>
              <a:rPr lang="en-US" sz="2800" dirty="0">
                <a:effectLst/>
              </a:rPr>
              <a:t>.</a:t>
            </a:r>
            <a:endParaRPr lang="vi-VN" sz="2800" dirty="0">
              <a:effectLst/>
            </a:endParaRPr>
          </a:p>
          <a:p>
            <a:pPr>
              <a:buNone/>
            </a:pPr>
            <a:r>
              <a:rPr lang="vi-VN" sz="2800" b="1" dirty="0">
                <a:effectLst/>
              </a:rPr>
              <a:t>Quản lý: </a:t>
            </a:r>
            <a:endParaRPr lang="en-US" sz="2800" b="1" dirty="0"/>
          </a:p>
          <a:p>
            <a:pPr>
              <a:buNone/>
            </a:pPr>
            <a:r>
              <a:rPr lang="en-US" sz="2800" dirty="0">
                <a:effectLst/>
              </a:rPr>
              <a:t> + </a:t>
            </a:r>
            <a:r>
              <a:rPr lang="vi-VN" sz="2800" dirty="0">
                <a:effectLst/>
              </a:rPr>
              <a:t>Thế giới truyện, thực thể (nhân vật, địa danh, môn phái, vật phẩm, sự kiện…)</a:t>
            </a:r>
            <a:r>
              <a:rPr lang="en-US" sz="2800" dirty="0">
                <a:effectLst/>
              </a:rPr>
              <a:t>.</a:t>
            </a:r>
            <a:endParaRPr lang="en-US" sz="2800" dirty="0"/>
          </a:p>
          <a:p>
            <a:pPr>
              <a:buNone/>
            </a:pPr>
            <a:r>
              <a:rPr lang="en-US" sz="2800" dirty="0">
                <a:effectLst/>
              </a:rPr>
              <a:t> + </a:t>
            </a:r>
            <a:r>
              <a:rPr lang="vi-VN" sz="2800" dirty="0">
                <a:effectLst/>
              </a:rPr>
              <a:t>Mối quan hệ giữa các thực thể</a:t>
            </a:r>
            <a:r>
              <a:rPr lang="en-US" sz="2800" dirty="0">
                <a:effectLst/>
              </a:rPr>
              <a:t>.</a:t>
            </a:r>
          </a:p>
          <a:p>
            <a:pPr>
              <a:buNone/>
            </a:pPr>
            <a:r>
              <a:rPr lang="en-US" sz="2800" dirty="0">
                <a:effectLst/>
              </a:rPr>
              <a:t> + </a:t>
            </a:r>
            <a:r>
              <a:rPr lang="vi-VN" sz="2800" dirty="0">
                <a:effectLst/>
              </a:rPr>
              <a:t>Loại thực thể, nhãn (tag) phân loại</a:t>
            </a:r>
            <a:r>
              <a:rPr lang="en-US" sz="2800" dirty="0">
                <a:effectLst/>
              </a:rPr>
              <a:t>.</a:t>
            </a:r>
            <a:endParaRPr lang="vi-VN" sz="2800" dirty="0">
              <a:effectLst/>
            </a:endParaRPr>
          </a:p>
          <a:p>
            <a:pPr>
              <a:buNone/>
            </a:pPr>
            <a:r>
              <a:rPr lang="vi-VN" sz="2800" b="1" dirty="0">
                <a:effectLst/>
              </a:rPr>
              <a:t>Hỗ trợ:</a:t>
            </a:r>
            <a:endParaRPr lang="en-US" sz="2800" b="1" dirty="0">
              <a:effectLst/>
            </a:endParaRPr>
          </a:p>
          <a:p>
            <a:pPr>
              <a:buNone/>
            </a:pPr>
            <a:r>
              <a:rPr lang="en-US" sz="2800" dirty="0">
                <a:effectLst/>
              </a:rPr>
              <a:t> + </a:t>
            </a:r>
            <a:r>
              <a:rPr lang="vi-VN" sz="2800" dirty="0">
                <a:effectLst/>
              </a:rPr>
              <a:t>Tìm kiếm, lọc thông tin nhanh chóng</a:t>
            </a:r>
            <a:r>
              <a:rPr lang="en-US" sz="2800" dirty="0">
                <a:effectLst/>
              </a:rPr>
              <a:t>.</a:t>
            </a:r>
          </a:p>
          <a:p>
            <a:pPr>
              <a:buNone/>
            </a:pPr>
            <a:r>
              <a:rPr lang="en-US" sz="2800" dirty="0">
                <a:effectLst/>
              </a:rPr>
              <a:t> + </a:t>
            </a:r>
            <a:r>
              <a:rPr lang="vi-VN" sz="2800" dirty="0">
                <a:effectLst/>
              </a:rPr>
              <a:t>Tạo/sửa thế giới và thực thể bằng AI (Gemini) gợi ý, tạo mô tả tự động</a:t>
            </a:r>
            <a:r>
              <a:rPr lang="en-US" sz="2800" dirty="0">
                <a:effectLst/>
              </a:rPr>
              <a:t>.</a:t>
            </a:r>
          </a:p>
          <a:p>
            <a:pPr>
              <a:buNone/>
            </a:pPr>
            <a:r>
              <a:rPr lang="en-US" sz="2800" dirty="0">
                <a:effectLst/>
              </a:rPr>
              <a:t> + </a:t>
            </a:r>
            <a:r>
              <a:rPr lang="vi-VN" sz="2800" dirty="0">
                <a:effectLst/>
              </a:rPr>
              <a:t>Trực quan hóa thông tin, thống kê số lượng thực thể/mối quan hệ</a:t>
            </a:r>
            <a:r>
              <a:rPr lang="en-US" sz="2800" dirty="0">
                <a:effectLst/>
              </a:rPr>
              <a:t>.</a:t>
            </a:r>
            <a:endParaRPr lang="vi-VN" sz="2800" dirty="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6" name="Freeform 6"/>
          <p:cNvSpPr/>
          <p:nvPr/>
        </p:nvSpPr>
        <p:spPr>
          <a:xfrm rot="-8428772" flipV="1">
            <a:off x="-3201010" y="-2633043"/>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226302" y="5512321"/>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8026575">
            <a:off x="15932310" y="-1225826"/>
            <a:ext cx="3304221" cy="3148021"/>
          </a:xfrm>
          <a:custGeom>
            <a:avLst/>
            <a:gdLst/>
            <a:ahLst/>
            <a:cxnLst/>
            <a:rect l="l" t="t" r="r" b="b"/>
            <a:pathLst>
              <a:path w="3304221" h="3148021">
                <a:moveTo>
                  <a:pt x="0" y="0"/>
                </a:moveTo>
                <a:lnTo>
                  <a:pt x="3304221" y="0"/>
                </a:lnTo>
                <a:lnTo>
                  <a:pt x="3304221" y="3148021"/>
                </a:lnTo>
                <a:lnTo>
                  <a:pt x="0" y="31480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flipH="1">
            <a:off x="1186487" y="1924573"/>
            <a:ext cx="5220185" cy="7191342"/>
          </a:xfrm>
          <a:custGeom>
            <a:avLst/>
            <a:gdLst/>
            <a:ahLst/>
            <a:cxnLst/>
            <a:rect l="l" t="t" r="r" b="b"/>
            <a:pathLst>
              <a:path w="6689053" h="6628244">
                <a:moveTo>
                  <a:pt x="6689053" y="0"/>
                </a:moveTo>
                <a:lnTo>
                  <a:pt x="0" y="0"/>
                </a:lnTo>
                <a:lnTo>
                  <a:pt x="0" y="6628244"/>
                </a:lnTo>
                <a:lnTo>
                  <a:pt x="6689053" y="6628244"/>
                </a:lnTo>
                <a:lnTo>
                  <a:pt x="6689053"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3163815" y="2030802"/>
            <a:ext cx="1367356" cy="638188"/>
          </a:xfrm>
          <a:prstGeom prst="rect">
            <a:avLst/>
          </a:prstGeom>
        </p:spPr>
        <p:txBody>
          <a:bodyPr lIns="0" tIns="0" rIns="0" bIns="0" rtlCol="0" anchor="t">
            <a:spAutoFit/>
          </a:bodyPr>
          <a:lstStyle/>
          <a:p>
            <a:pPr algn="ctr">
              <a:lnSpc>
                <a:spcPts val="5280"/>
              </a:lnSpc>
            </a:pPr>
            <a:r>
              <a:rPr lang="en-US" sz="4400" b="1" dirty="0">
                <a:solidFill>
                  <a:srgbClr val="5D3E24"/>
                </a:solidFill>
                <a:latin typeface="Arial" panose="020B0604020202020204" pitchFamily="34" charset="0"/>
                <a:cs typeface="Arial" panose="020B0604020202020204" pitchFamily="34" charset="0"/>
              </a:rPr>
              <a:t>01</a:t>
            </a:r>
          </a:p>
        </p:txBody>
      </p:sp>
      <p:sp>
        <p:nvSpPr>
          <p:cNvPr id="18" name="TextBox 17">
            <a:extLst>
              <a:ext uri="{FF2B5EF4-FFF2-40B4-BE49-F238E27FC236}">
                <a16:creationId xmlns:a16="http://schemas.microsoft.com/office/drawing/2014/main" id="{8B4B68C3-086A-7E69-B7AB-D34FDD878456}"/>
              </a:ext>
            </a:extLst>
          </p:cNvPr>
          <p:cNvSpPr txBox="1"/>
          <p:nvPr/>
        </p:nvSpPr>
        <p:spPr>
          <a:xfrm>
            <a:off x="6101238" y="674757"/>
            <a:ext cx="6085523"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CÔNG NGHỆ SỬ DỤNG</a:t>
            </a:r>
          </a:p>
        </p:txBody>
      </p:sp>
      <p:sp>
        <p:nvSpPr>
          <p:cNvPr id="19" name="Freeform 11">
            <a:extLst>
              <a:ext uri="{FF2B5EF4-FFF2-40B4-BE49-F238E27FC236}">
                <a16:creationId xmlns:a16="http://schemas.microsoft.com/office/drawing/2014/main" id="{2193C0E1-56A7-08BC-10EA-378192E49325}"/>
              </a:ext>
            </a:extLst>
          </p:cNvPr>
          <p:cNvSpPr/>
          <p:nvPr/>
        </p:nvSpPr>
        <p:spPr>
          <a:xfrm flipH="1">
            <a:off x="6624269" y="2066958"/>
            <a:ext cx="5220185" cy="7191342"/>
          </a:xfrm>
          <a:custGeom>
            <a:avLst/>
            <a:gdLst/>
            <a:ahLst/>
            <a:cxnLst/>
            <a:rect l="l" t="t" r="r" b="b"/>
            <a:pathLst>
              <a:path w="6689053" h="6628244">
                <a:moveTo>
                  <a:pt x="6689053" y="0"/>
                </a:moveTo>
                <a:lnTo>
                  <a:pt x="0" y="0"/>
                </a:lnTo>
                <a:lnTo>
                  <a:pt x="0" y="6628244"/>
                </a:lnTo>
                <a:lnTo>
                  <a:pt x="6689053" y="6628244"/>
                </a:lnTo>
                <a:lnTo>
                  <a:pt x="6689053"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Freeform 11">
            <a:extLst>
              <a:ext uri="{FF2B5EF4-FFF2-40B4-BE49-F238E27FC236}">
                <a16:creationId xmlns:a16="http://schemas.microsoft.com/office/drawing/2014/main" id="{7E428648-B596-9D3B-B834-FEF75BF21A91}"/>
              </a:ext>
            </a:extLst>
          </p:cNvPr>
          <p:cNvSpPr/>
          <p:nvPr/>
        </p:nvSpPr>
        <p:spPr>
          <a:xfrm flipH="1">
            <a:off x="11995043" y="2156562"/>
            <a:ext cx="5220185" cy="7191342"/>
          </a:xfrm>
          <a:custGeom>
            <a:avLst/>
            <a:gdLst/>
            <a:ahLst/>
            <a:cxnLst/>
            <a:rect l="l" t="t" r="r" b="b"/>
            <a:pathLst>
              <a:path w="6689053" h="6628244">
                <a:moveTo>
                  <a:pt x="6689053" y="0"/>
                </a:moveTo>
                <a:lnTo>
                  <a:pt x="0" y="0"/>
                </a:lnTo>
                <a:lnTo>
                  <a:pt x="0" y="6628244"/>
                </a:lnTo>
                <a:lnTo>
                  <a:pt x="6689053" y="6628244"/>
                </a:lnTo>
                <a:lnTo>
                  <a:pt x="6689053"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5" name="Freeform 5"/>
          <p:cNvSpPr/>
          <p:nvPr/>
        </p:nvSpPr>
        <p:spPr>
          <a:xfrm rot="21054104">
            <a:off x="16699589" y="1937273"/>
            <a:ext cx="2215255" cy="2520427"/>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0550365">
            <a:off x="16615281" y="4669314"/>
            <a:ext cx="1545512" cy="2841207"/>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TextBox 15"/>
          <p:cNvSpPr txBox="1"/>
          <p:nvPr/>
        </p:nvSpPr>
        <p:spPr>
          <a:xfrm>
            <a:off x="13945615" y="2245183"/>
            <a:ext cx="1367356" cy="638188"/>
          </a:xfrm>
          <a:prstGeom prst="rect">
            <a:avLst/>
          </a:prstGeom>
        </p:spPr>
        <p:txBody>
          <a:bodyPr lIns="0" tIns="0" rIns="0" bIns="0" rtlCol="0" anchor="t">
            <a:spAutoFit/>
          </a:bodyPr>
          <a:lstStyle/>
          <a:p>
            <a:pPr algn="ctr">
              <a:lnSpc>
                <a:spcPts val="5280"/>
              </a:lnSpc>
            </a:pPr>
            <a:r>
              <a:rPr lang="en-US" sz="4400" b="1" dirty="0">
                <a:solidFill>
                  <a:srgbClr val="5D3E24"/>
                </a:solidFill>
                <a:latin typeface="Arial" panose="020B0604020202020204" pitchFamily="34" charset="0"/>
                <a:cs typeface="Arial" panose="020B0604020202020204" pitchFamily="34" charset="0"/>
              </a:rPr>
              <a:t>03</a:t>
            </a:r>
          </a:p>
        </p:txBody>
      </p:sp>
      <p:sp>
        <p:nvSpPr>
          <p:cNvPr id="22" name="TextBox 21">
            <a:extLst>
              <a:ext uri="{FF2B5EF4-FFF2-40B4-BE49-F238E27FC236}">
                <a16:creationId xmlns:a16="http://schemas.microsoft.com/office/drawing/2014/main" id="{A95B877D-A3B6-47E5-0879-C0189D2F9837}"/>
              </a:ext>
            </a:extLst>
          </p:cNvPr>
          <p:cNvSpPr txBox="1"/>
          <p:nvPr/>
        </p:nvSpPr>
        <p:spPr>
          <a:xfrm>
            <a:off x="8479210" y="2115982"/>
            <a:ext cx="1510301" cy="726353"/>
          </a:xfrm>
          <a:prstGeom prst="rect">
            <a:avLst/>
          </a:prstGeom>
          <a:noFill/>
        </p:spPr>
        <p:txBody>
          <a:bodyPr wrap="square">
            <a:spAutoFit/>
          </a:bodyPr>
          <a:lstStyle/>
          <a:p>
            <a:pPr algn="ctr">
              <a:lnSpc>
                <a:spcPts val="5280"/>
              </a:lnSpc>
            </a:pPr>
            <a:r>
              <a:rPr lang="en-US" sz="4400" b="1" dirty="0">
                <a:solidFill>
                  <a:srgbClr val="5D3E24"/>
                </a:solidFill>
                <a:latin typeface="Arial" panose="020B0604020202020204" pitchFamily="34" charset="0"/>
                <a:cs typeface="Arial" panose="020B0604020202020204" pitchFamily="34" charset="0"/>
              </a:rPr>
              <a:t>02</a:t>
            </a:r>
          </a:p>
        </p:txBody>
      </p:sp>
      <p:sp>
        <p:nvSpPr>
          <p:cNvPr id="3" name="Freeform 3"/>
          <p:cNvSpPr/>
          <p:nvPr/>
        </p:nvSpPr>
        <p:spPr>
          <a:xfrm rot="1049988">
            <a:off x="16487732" y="5751023"/>
            <a:ext cx="5127233" cy="6459507"/>
          </a:xfrm>
          <a:custGeom>
            <a:avLst/>
            <a:gdLst/>
            <a:ahLst/>
            <a:cxnLst/>
            <a:rect l="l" t="t" r="r" b="b"/>
            <a:pathLst>
              <a:path w="5127233" h="6459507">
                <a:moveTo>
                  <a:pt x="0" y="0"/>
                </a:moveTo>
                <a:lnTo>
                  <a:pt x="5127234" y="0"/>
                </a:lnTo>
                <a:lnTo>
                  <a:pt x="5127234" y="6459507"/>
                </a:lnTo>
                <a:lnTo>
                  <a:pt x="0" y="6459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1810636">
            <a:off x="-658986" y="8712989"/>
            <a:ext cx="3304221" cy="3148021"/>
          </a:xfrm>
          <a:custGeom>
            <a:avLst/>
            <a:gdLst/>
            <a:ahLst/>
            <a:cxnLst/>
            <a:rect l="l" t="t" r="r" b="b"/>
            <a:pathLst>
              <a:path w="3304221" h="3148021">
                <a:moveTo>
                  <a:pt x="0" y="0"/>
                </a:moveTo>
                <a:lnTo>
                  <a:pt x="3304220" y="0"/>
                </a:lnTo>
                <a:lnTo>
                  <a:pt x="3304220" y="3148021"/>
                </a:lnTo>
                <a:lnTo>
                  <a:pt x="0" y="31480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656006">
            <a:off x="1241406" y="175441"/>
            <a:ext cx="1459213" cy="3206996"/>
          </a:xfrm>
          <a:custGeom>
            <a:avLst/>
            <a:gdLst/>
            <a:ahLst/>
            <a:cxnLst/>
            <a:rect l="l" t="t" r="r" b="b"/>
            <a:pathLst>
              <a:path w="1833980" h="3561126">
                <a:moveTo>
                  <a:pt x="0" y="0"/>
                </a:moveTo>
                <a:lnTo>
                  <a:pt x="1833979" y="0"/>
                </a:lnTo>
                <a:lnTo>
                  <a:pt x="1833979" y="3561126"/>
                </a:lnTo>
                <a:lnTo>
                  <a:pt x="0" y="35611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
        <p:nvSpPr>
          <p:cNvPr id="12" name="TextBox 11">
            <a:extLst>
              <a:ext uri="{FF2B5EF4-FFF2-40B4-BE49-F238E27FC236}">
                <a16:creationId xmlns:a16="http://schemas.microsoft.com/office/drawing/2014/main" id="{7461C428-48CA-6E22-07C8-61E3C1BA0DE7}"/>
              </a:ext>
            </a:extLst>
          </p:cNvPr>
          <p:cNvSpPr txBox="1"/>
          <p:nvPr/>
        </p:nvSpPr>
        <p:spPr>
          <a:xfrm>
            <a:off x="13945615" y="8119643"/>
            <a:ext cx="1859758" cy="523220"/>
          </a:xfrm>
          <a:prstGeom prst="rect">
            <a:avLst/>
          </a:prstGeom>
          <a:noFill/>
        </p:spPr>
        <p:txBody>
          <a:bodyPr wrap="square">
            <a:spAutoFit/>
          </a:bodyPr>
          <a:lstStyle/>
          <a:p>
            <a:pPr marL="0" indent="0"/>
            <a:r>
              <a:rPr lang="vi-VN" sz="2800" b="1" dirty="0"/>
              <a:t>Database</a:t>
            </a:r>
            <a:endParaRPr lang="en-US" sz="2800" b="1" dirty="0"/>
          </a:p>
        </p:txBody>
      </p:sp>
      <p:sp>
        <p:nvSpPr>
          <p:cNvPr id="16" name="TextBox 15">
            <a:extLst>
              <a:ext uri="{FF2B5EF4-FFF2-40B4-BE49-F238E27FC236}">
                <a16:creationId xmlns:a16="http://schemas.microsoft.com/office/drawing/2014/main" id="{38F7E8A6-7CB2-F5CD-671A-25C7604C43D2}"/>
              </a:ext>
            </a:extLst>
          </p:cNvPr>
          <p:cNvSpPr txBox="1"/>
          <p:nvPr/>
        </p:nvSpPr>
        <p:spPr>
          <a:xfrm>
            <a:off x="8479210" y="8095829"/>
            <a:ext cx="1799310" cy="523220"/>
          </a:xfrm>
          <a:prstGeom prst="rect">
            <a:avLst/>
          </a:prstGeom>
          <a:noFill/>
        </p:spPr>
        <p:txBody>
          <a:bodyPr wrap="square">
            <a:spAutoFit/>
          </a:bodyPr>
          <a:lstStyle/>
          <a:p>
            <a:pPr marL="0" indent="0"/>
            <a:r>
              <a:rPr lang="vi-VN" sz="2800" b="1" dirty="0"/>
              <a:t>Backend</a:t>
            </a:r>
            <a:endParaRPr lang="en-US" sz="2800" b="1" dirty="0"/>
          </a:p>
        </p:txBody>
      </p:sp>
      <p:sp>
        <p:nvSpPr>
          <p:cNvPr id="21" name="TextBox 20">
            <a:extLst>
              <a:ext uri="{FF2B5EF4-FFF2-40B4-BE49-F238E27FC236}">
                <a16:creationId xmlns:a16="http://schemas.microsoft.com/office/drawing/2014/main" id="{B6066C31-821D-D0B7-3BEA-C33365634A71}"/>
              </a:ext>
            </a:extLst>
          </p:cNvPr>
          <p:cNvSpPr txBox="1"/>
          <p:nvPr/>
        </p:nvSpPr>
        <p:spPr>
          <a:xfrm>
            <a:off x="2991509" y="8119643"/>
            <a:ext cx="2164349" cy="523220"/>
          </a:xfrm>
          <a:prstGeom prst="rect">
            <a:avLst/>
          </a:prstGeom>
          <a:noFill/>
        </p:spPr>
        <p:txBody>
          <a:bodyPr wrap="square">
            <a:spAutoFit/>
          </a:bodyPr>
          <a:lstStyle/>
          <a:p>
            <a:pPr marL="0" indent="0"/>
            <a:r>
              <a:rPr lang="vi-VN" sz="2800" b="1" dirty="0"/>
              <a:t>Frontend</a:t>
            </a:r>
            <a:endParaRPr lang="en-US" sz="2800" b="1" dirty="0"/>
          </a:p>
        </p:txBody>
      </p:sp>
      <p:pic>
        <p:nvPicPr>
          <p:cNvPr id="24" name="Picture 23">
            <a:extLst>
              <a:ext uri="{FF2B5EF4-FFF2-40B4-BE49-F238E27FC236}">
                <a16:creationId xmlns:a16="http://schemas.microsoft.com/office/drawing/2014/main" id="{482C0F40-9377-C890-AA74-8887AB842F8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12114" y="4175891"/>
            <a:ext cx="1848559" cy="1848559"/>
          </a:xfrm>
          <a:prstGeom prst="rect">
            <a:avLst/>
          </a:prstGeom>
        </p:spPr>
      </p:pic>
      <p:pic>
        <p:nvPicPr>
          <p:cNvPr id="26" name="Picture 25">
            <a:extLst>
              <a:ext uri="{FF2B5EF4-FFF2-40B4-BE49-F238E27FC236}">
                <a16:creationId xmlns:a16="http://schemas.microsoft.com/office/drawing/2014/main" id="{7EE90A4E-616F-EE00-ED62-A14A04C1653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186758" y="4203209"/>
            <a:ext cx="1321469" cy="1850683"/>
          </a:xfrm>
          <a:prstGeom prst="rect">
            <a:avLst/>
          </a:prstGeom>
        </p:spPr>
      </p:pic>
      <p:pic>
        <p:nvPicPr>
          <p:cNvPr id="28" name="Picture 27">
            <a:extLst>
              <a:ext uri="{FF2B5EF4-FFF2-40B4-BE49-F238E27FC236}">
                <a16:creationId xmlns:a16="http://schemas.microsoft.com/office/drawing/2014/main" id="{A39943FB-B5F1-09E8-FA5B-97F4A4EBCF3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380877" y="4400580"/>
            <a:ext cx="2036933" cy="2036933"/>
          </a:xfrm>
          <a:prstGeom prst="rect">
            <a:avLst/>
          </a:prstGeom>
        </p:spPr>
      </p:pic>
      <p:pic>
        <p:nvPicPr>
          <p:cNvPr id="3074" name="Picture 2" descr="Bootstrap là gì? So với Tailwind CSS &amp; Cách dùng Bootstrap 4,5">
            <a:extLst>
              <a:ext uri="{FF2B5EF4-FFF2-40B4-BE49-F238E27FC236}">
                <a16:creationId xmlns:a16="http://schemas.microsoft.com/office/drawing/2014/main" id="{A15B40A0-F0AE-F198-0F29-8A47C0D8C587}"/>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29488" t="7550" r="29905" b="21866"/>
          <a:stretch>
            <a:fillRect/>
          </a:stretch>
        </p:blipFill>
        <p:spPr bwMode="auto">
          <a:xfrm>
            <a:off x="1882184" y="6152237"/>
            <a:ext cx="1680043" cy="194569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penJS Foundation: jQuery - Credly">
            <a:extLst>
              <a:ext uri="{FF2B5EF4-FFF2-40B4-BE49-F238E27FC236}">
                <a16:creationId xmlns:a16="http://schemas.microsoft.com/office/drawing/2014/main" id="{A6237597-9A2A-47EB-D1F4-BC417B55EFF6}"/>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847492" y="6401801"/>
            <a:ext cx="1680044" cy="1680044"/>
          </a:xfrm>
          <a:prstGeom prst="rect">
            <a:avLst/>
          </a:prstGeom>
          <a:noFill/>
          <a:extLst>
            <a:ext uri="{909E8E84-426E-40DD-AFC4-6F175D3DCCD1}">
              <a14:hiddenFill xmlns:a14="http://schemas.microsoft.com/office/drawing/2010/main">
                <a:solidFill>
                  <a:srgbClr val="FFFFFF"/>
                </a:solidFill>
              </a14:hiddenFill>
            </a:ext>
          </a:extLst>
        </p:spPr>
      </p:pic>
      <p:pic>
        <p:nvPicPr>
          <p:cNvPr id="3072" name="Picture 3071">
            <a:extLst>
              <a:ext uri="{FF2B5EF4-FFF2-40B4-BE49-F238E27FC236}">
                <a16:creationId xmlns:a16="http://schemas.microsoft.com/office/drawing/2014/main" id="{47965516-2099-4129-9088-451C94482AC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576081" y="4105141"/>
            <a:ext cx="3299040" cy="2296660"/>
          </a:xfrm>
          <a:prstGeom prst="rect">
            <a:avLst/>
          </a:prstGeom>
        </p:spPr>
      </p:pic>
      <p:pic>
        <p:nvPicPr>
          <p:cNvPr id="3082" name="Picture 10" descr="Hướng dẫn cài đặt Laravel trên FastPanel">
            <a:extLst>
              <a:ext uri="{FF2B5EF4-FFF2-40B4-BE49-F238E27FC236}">
                <a16:creationId xmlns:a16="http://schemas.microsoft.com/office/drawing/2014/main" id="{03E15D6C-05AF-1DD3-3026-835766BEFFA2}"/>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l="22629" t="15766" r="23744" b="6557"/>
          <a:stretch>
            <a:fillRect/>
          </a:stretch>
        </p:blipFill>
        <p:spPr bwMode="auto">
          <a:xfrm>
            <a:off x="8306467" y="6378781"/>
            <a:ext cx="2060947" cy="149260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MySQL Database Consulting, Deployment and Managed Support Services">
            <a:extLst>
              <a:ext uri="{FF2B5EF4-FFF2-40B4-BE49-F238E27FC236}">
                <a16:creationId xmlns:a16="http://schemas.microsoft.com/office/drawing/2014/main" id="{10DD7FC0-A764-9622-D2AE-700A74A0E1E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3045732" y="4484677"/>
            <a:ext cx="3210480" cy="32104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835125">
            <a:off x="712482" y="2378936"/>
            <a:ext cx="10018993" cy="13515771"/>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6840821" y="4762500"/>
            <a:ext cx="11083124" cy="14354073"/>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170325" y="1104900"/>
            <a:ext cx="16230599" cy="8651529"/>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20344789">
            <a:off x="522431" y="6318882"/>
            <a:ext cx="1154919" cy="1100323"/>
          </a:xfrm>
          <a:custGeom>
            <a:avLst/>
            <a:gdLst/>
            <a:ahLst/>
            <a:cxnLst/>
            <a:rect l="l" t="t" r="r" b="b"/>
            <a:pathLst>
              <a:path w="1154919" h="1100323">
                <a:moveTo>
                  <a:pt x="0" y="0"/>
                </a:moveTo>
                <a:lnTo>
                  <a:pt x="1154919" y="0"/>
                </a:lnTo>
                <a:lnTo>
                  <a:pt x="1154919" y="1100322"/>
                </a:lnTo>
                <a:lnTo>
                  <a:pt x="0" y="11003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9" name="Freeform 9"/>
          <p:cNvSpPr/>
          <p:nvPr/>
        </p:nvSpPr>
        <p:spPr>
          <a:xfrm rot="1810636">
            <a:off x="4876455" y="364738"/>
            <a:ext cx="1157000" cy="1102305"/>
          </a:xfrm>
          <a:custGeom>
            <a:avLst/>
            <a:gdLst/>
            <a:ahLst/>
            <a:cxnLst/>
            <a:rect l="l" t="t" r="r" b="b"/>
            <a:pathLst>
              <a:path w="1157000" h="1102305">
                <a:moveTo>
                  <a:pt x="0" y="0"/>
                </a:moveTo>
                <a:lnTo>
                  <a:pt x="1156999" y="0"/>
                </a:lnTo>
                <a:lnTo>
                  <a:pt x="1156999" y="1102306"/>
                </a:lnTo>
                <a:lnTo>
                  <a:pt x="0" y="11023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6070898">
            <a:off x="16581856" y="-297647"/>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9">
            <a:extLst>
              <a:ext uri="{FF2B5EF4-FFF2-40B4-BE49-F238E27FC236}">
                <a16:creationId xmlns:a16="http://schemas.microsoft.com/office/drawing/2014/main" id="{333E17C3-FA94-CB05-0AB8-45B3407CC3AE}"/>
              </a:ext>
            </a:extLst>
          </p:cNvPr>
          <p:cNvSpPr/>
          <p:nvPr/>
        </p:nvSpPr>
        <p:spPr>
          <a:xfrm rot="1810636">
            <a:off x="16902368" y="4155116"/>
            <a:ext cx="1406411" cy="1268359"/>
          </a:xfrm>
          <a:custGeom>
            <a:avLst/>
            <a:gdLst/>
            <a:ahLst/>
            <a:cxnLst/>
            <a:rect l="l" t="t" r="r" b="b"/>
            <a:pathLst>
              <a:path w="1157000" h="1102305">
                <a:moveTo>
                  <a:pt x="0" y="0"/>
                </a:moveTo>
                <a:lnTo>
                  <a:pt x="1156999" y="0"/>
                </a:lnTo>
                <a:lnTo>
                  <a:pt x="1156999" y="1102306"/>
                </a:lnTo>
                <a:lnTo>
                  <a:pt x="0" y="11023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20" name="Rectangle: Rounded Corners 19">
            <a:extLst>
              <a:ext uri="{FF2B5EF4-FFF2-40B4-BE49-F238E27FC236}">
                <a16:creationId xmlns:a16="http://schemas.microsoft.com/office/drawing/2014/main" id="{AC26DC48-E16A-B0BE-D01B-E047CA2AD09F}"/>
              </a:ext>
            </a:extLst>
          </p:cNvPr>
          <p:cNvSpPr/>
          <p:nvPr/>
        </p:nvSpPr>
        <p:spPr>
          <a:xfrm>
            <a:off x="9111343" y="3703559"/>
            <a:ext cx="7772400" cy="5561971"/>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E800A300-B2E5-F275-2A67-71296D467D62}"/>
              </a:ext>
            </a:extLst>
          </p:cNvPr>
          <p:cNvSpPr/>
          <p:nvPr/>
        </p:nvSpPr>
        <p:spPr>
          <a:xfrm>
            <a:off x="2185034" y="2088625"/>
            <a:ext cx="7772400" cy="5561971"/>
          </a:xfrm>
          <a:prstGeom prst="round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Google Shape;752;p32">
            <a:extLst>
              <a:ext uri="{FF2B5EF4-FFF2-40B4-BE49-F238E27FC236}">
                <a16:creationId xmlns:a16="http://schemas.microsoft.com/office/drawing/2014/main" id="{3743A3CE-CBB7-AD68-8A42-D82EAF9D53C4}"/>
              </a:ext>
            </a:extLst>
          </p:cNvPr>
          <p:cNvSpPr txBox="1">
            <a:spLocks/>
          </p:cNvSpPr>
          <p:nvPr/>
        </p:nvSpPr>
        <p:spPr>
          <a:xfrm>
            <a:off x="2979837" y="4023182"/>
            <a:ext cx="6537299" cy="2892128"/>
          </a:xfrm>
          <a:prstGeom prst="rect">
            <a:avLst/>
          </a:prstGeom>
        </p:spPr>
        <p:txBody>
          <a:bodyPr spcFirstLastPara="1" wrap="square" lIns="91425" tIns="91425" rIns="91425" bIns="91425" anchor="b"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73D40"/>
              </a:buClr>
              <a:buSzPts val="600"/>
              <a:buFont typeface="Arial" pitchFamily="34" charset="0"/>
              <a:buNone/>
            </a:pPr>
            <a:r>
              <a:rPr lang="en-US" sz="2800" dirty="0" err="1">
                <a:latin typeface="Arial" panose="020B0604020202020204" pitchFamily="34" charset="0"/>
                <a:cs typeface="Arial" panose="020B0604020202020204" pitchFamily="34" charset="0"/>
              </a:rPr>
              <a:t>Mô</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hình</a:t>
            </a:r>
            <a:r>
              <a:rPr lang="en-US" sz="2800" dirty="0">
                <a:latin typeface="Arial" panose="020B0604020202020204" pitchFamily="34" charset="0"/>
                <a:cs typeface="Arial" panose="020B0604020202020204" pitchFamily="34" charset="0"/>
              </a:rPr>
              <a:t> MVC:</a:t>
            </a:r>
            <a:endParaRPr lang="vi-VN" sz="2800" dirty="0">
              <a:latin typeface="Arial" panose="020B0604020202020204" pitchFamily="34" charset="0"/>
              <a:cs typeface="Arial" panose="020B0604020202020204" pitchFamily="34" charset="0"/>
            </a:endParaRPr>
          </a:p>
          <a:p>
            <a:pPr marL="0" indent="0">
              <a:buClr>
                <a:srgbClr val="273D40"/>
              </a:buClr>
              <a:buSzPts val="600"/>
              <a:buNone/>
            </a:pPr>
            <a:r>
              <a:rPr lang="en-US" sz="2800" b="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a:t>
            </a:r>
            <a:r>
              <a:rPr lang="en-US" sz="2800" b="1" dirty="0">
                <a:latin typeface="Arial" panose="020B0604020202020204" pitchFamily="34" charset="0"/>
                <a:cs typeface="Arial" panose="020B0604020202020204" pitchFamily="34" charset="0"/>
              </a:rPr>
              <a:t> Model</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lý</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dữ</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liệu</a:t>
            </a:r>
            <a:endParaRPr lang="vi-VN" sz="2800" dirty="0">
              <a:latin typeface="Arial" panose="020B0604020202020204" pitchFamily="34" charset="0"/>
              <a:cs typeface="Arial" panose="020B0604020202020204" pitchFamily="34" charset="0"/>
            </a:endParaRPr>
          </a:p>
          <a:p>
            <a:pPr marL="0" indent="0">
              <a:buClr>
                <a:srgbClr val="273D40"/>
              </a:buClr>
              <a:buSzPts val="600"/>
              <a:buNone/>
            </a:pPr>
            <a:r>
              <a:rPr lang="en-US" sz="2800" b="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a:t>
            </a:r>
            <a:r>
              <a:rPr lang="en-US" sz="2800" b="1" dirty="0">
                <a:latin typeface="Arial" panose="020B0604020202020204" pitchFamily="34" charset="0"/>
                <a:cs typeface="Arial" panose="020B0604020202020204" pitchFamily="34" charset="0"/>
              </a:rPr>
              <a:t> </a:t>
            </a:r>
            <a:r>
              <a:rPr lang="vi-VN" sz="2800" b="1" dirty="0">
                <a:latin typeface="Arial" panose="020B0604020202020204" pitchFamily="34" charset="0"/>
                <a:cs typeface="Arial" panose="020B0604020202020204" pitchFamily="34" charset="0"/>
              </a:rPr>
              <a:t>View</a:t>
            </a:r>
            <a:r>
              <a:rPr lang="vi-VN" sz="2800" dirty="0">
                <a:latin typeface="Arial" panose="020B0604020202020204" pitchFamily="34" charset="0"/>
                <a:cs typeface="Arial" panose="020B0604020202020204" pitchFamily="34" charset="0"/>
              </a:rPr>
              <a:t>: giao diện người dùng</a:t>
            </a:r>
          </a:p>
          <a:p>
            <a:pPr marL="0" indent="0">
              <a:buClr>
                <a:srgbClr val="273D40"/>
              </a:buClr>
              <a:buSzPts val="600"/>
              <a:buNone/>
            </a:pPr>
            <a:r>
              <a:rPr lang="en-US" sz="2800" b="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a:t>
            </a:r>
            <a:r>
              <a:rPr lang="en-US" sz="2800" b="1" dirty="0">
                <a:latin typeface="Arial" panose="020B0604020202020204" pitchFamily="34" charset="0"/>
                <a:cs typeface="Arial" panose="020B0604020202020204" pitchFamily="34" charset="0"/>
              </a:rPr>
              <a:t> Controller</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điều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phối</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xử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lý</a:t>
            </a:r>
            <a:endParaRPr lang="vi-VN" sz="2800" dirty="0">
              <a:latin typeface="Arial" panose="020B0604020202020204" pitchFamily="34" charset="0"/>
              <a:cs typeface="Arial" panose="020B0604020202020204" pitchFamily="34" charset="0"/>
            </a:endParaRPr>
          </a:p>
          <a:p>
            <a:pPr marL="0" indent="0">
              <a:buClr>
                <a:srgbClr val="273D40"/>
              </a:buClr>
              <a:buSzPts val="600"/>
              <a:buFont typeface="Arial" pitchFamily="34" charset="0"/>
              <a:buNone/>
            </a:pPr>
            <a:r>
              <a:rPr lang="vi-VN" sz="2800" dirty="0">
                <a:latin typeface="Arial" panose="020B0604020202020204" pitchFamily="34" charset="0"/>
                <a:cs typeface="Arial" panose="020B0604020202020204" pitchFamily="34" charset="0"/>
              </a:rPr>
              <a:t>Dữ liệu lưu trữ tập trung, dễ mở rộng</a:t>
            </a:r>
          </a:p>
        </p:txBody>
      </p:sp>
      <p:sp>
        <p:nvSpPr>
          <p:cNvPr id="14" name="TextBox 13">
            <a:extLst>
              <a:ext uri="{FF2B5EF4-FFF2-40B4-BE49-F238E27FC236}">
                <a16:creationId xmlns:a16="http://schemas.microsoft.com/office/drawing/2014/main" id="{E3BBB852-64F7-4931-C20A-2CF22D87C955}"/>
              </a:ext>
            </a:extLst>
          </p:cNvPr>
          <p:cNvSpPr txBox="1"/>
          <p:nvPr/>
        </p:nvSpPr>
        <p:spPr>
          <a:xfrm>
            <a:off x="3299365" y="2789651"/>
            <a:ext cx="5844635" cy="707886"/>
          </a:xfrm>
          <a:prstGeom prst="rect">
            <a:avLst/>
          </a:prstGeom>
          <a:noFill/>
        </p:spPr>
        <p:txBody>
          <a:bodyPr wrap="square">
            <a:spAutoFit/>
          </a:bodyPr>
          <a:lstStyle/>
          <a:p>
            <a:r>
              <a:rPr lang="vi-VN" sz="4000" b="1" dirty="0"/>
              <a:t>KIẾN TRÚC HỆ THỐNG</a:t>
            </a:r>
            <a:endParaRPr lang="en-US" sz="4000" b="1" dirty="0"/>
          </a:p>
        </p:txBody>
      </p:sp>
      <p:pic>
        <p:nvPicPr>
          <p:cNvPr id="17" name="Picture 16">
            <a:extLst>
              <a:ext uri="{FF2B5EF4-FFF2-40B4-BE49-F238E27FC236}">
                <a16:creationId xmlns:a16="http://schemas.microsoft.com/office/drawing/2014/main" id="{07A669C8-03F0-CC28-5598-0749E8F613F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678262" y="4138068"/>
            <a:ext cx="6576838" cy="4808750"/>
          </a:xfrm>
          <a:prstGeom prst="rect">
            <a:avLst/>
          </a:prstGeom>
        </p:spPr>
      </p:pic>
      <p:sp>
        <p:nvSpPr>
          <p:cNvPr id="8" name="Freeform 8"/>
          <p:cNvSpPr/>
          <p:nvPr/>
        </p:nvSpPr>
        <p:spPr>
          <a:xfrm rot="1751388">
            <a:off x="-616799" y="-505773"/>
            <a:ext cx="3860617" cy="3924388"/>
          </a:xfrm>
          <a:custGeom>
            <a:avLst/>
            <a:gdLst/>
            <a:ahLst/>
            <a:cxnLst/>
            <a:rect l="l" t="t" r="r" b="b"/>
            <a:pathLst>
              <a:path w="3860617" h="3924388">
                <a:moveTo>
                  <a:pt x="0" y="0"/>
                </a:moveTo>
                <a:lnTo>
                  <a:pt x="3860618" y="0"/>
                </a:lnTo>
                <a:lnTo>
                  <a:pt x="3860618" y="3924389"/>
                </a:lnTo>
                <a:lnTo>
                  <a:pt x="0" y="392438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10800000">
            <a:off x="-8530636" y="-1614385"/>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flipH="1">
            <a:off x="17259186" y="-1614385"/>
            <a:ext cx="9559336" cy="13515771"/>
          </a:xfrm>
          <a:custGeom>
            <a:avLst/>
            <a:gdLst/>
            <a:ahLst/>
            <a:cxnLst/>
            <a:rect l="l" t="t" r="r" b="b"/>
            <a:pathLst>
              <a:path w="9559336" h="13515771">
                <a:moveTo>
                  <a:pt x="9559336" y="0"/>
                </a:moveTo>
                <a:lnTo>
                  <a:pt x="0" y="0"/>
                </a:lnTo>
                <a:lnTo>
                  <a:pt x="0" y="13515770"/>
                </a:lnTo>
                <a:lnTo>
                  <a:pt x="9559336" y="13515770"/>
                </a:lnTo>
                <a:lnTo>
                  <a:pt x="955933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828800" y="266700"/>
            <a:ext cx="15011400" cy="9753599"/>
          </a:xfrm>
          <a:custGeom>
            <a:avLst/>
            <a:gdLst/>
            <a:ahLst/>
            <a:cxnLst/>
            <a:rect l="l" t="t" r="r" b="b"/>
            <a:pathLst>
              <a:path w="4355500" h="6491937">
                <a:moveTo>
                  <a:pt x="0" y="0"/>
                </a:moveTo>
                <a:lnTo>
                  <a:pt x="4355500" y="0"/>
                </a:lnTo>
                <a:lnTo>
                  <a:pt x="4355500" y="6491937"/>
                </a:lnTo>
                <a:lnTo>
                  <a:pt x="0" y="64919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8">
            <a:extLst>
              <a:ext uri="{FF2B5EF4-FFF2-40B4-BE49-F238E27FC236}">
                <a16:creationId xmlns:a16="http://schemas.microsoft.com/office/drawing/2014/main" id="{611BAA5E-AD71-6AEA-8EE6-0565A709EF0C}"/>
              </a:ext>
            </a:extLst>
          </p:cNvPr>
          <p:cNvSpPr txBox="1"/>
          <p:nvPr/>
        </p:nvSpPr>
        <p:spPr>
          <a:xfrm>
            <a:off x="5791200" y="2097569"/>
            <a:ext cx="5943600"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PHÂN TÍCH HỆ THỐNG</a:t>
            </a:r>
          </a:p>
        </p:txBody>
      </p:sp>
      <p:sp>
        <p:nvSpPr>
          <p:cNvPr id="7" name="TextBox 6">
            <a:extLst>
              <a:ext uri="{FF2B5EF4-FFF2-40B4-BE49-F238E27FC236}">
                <a16:creationId xmlns:a16="http://schemas.microsoft.com/office/drawing/2014/main" id="{88BCAD51-7420-0B26-827B-8BD7DFD13A6A}"/>
              </a:ext>
            </a:extLst>
          </p:cNvPr>
          <p:cNvSpPr txBox="1"/>
          <p:nvPr/>
        </p:nvSpPr>
        <p:spPr>
          <a:xfrm>
            <a:off x="3519821" y="3643620"/>
            <a:ext cx="11654790" cy="4046875"/>
          </a:xfrm>
          <a:prstGeom prst="rect">
            <a:avLst/>
          </a:prstGeom>
          <a:noFill/>
        </p:spPr>
        <p:txBody>
          <a:bodyPr wrap="square">
            <a:spAutoFit/>
          </a:bodyPr>
          <a:lstStyle/>
          <a:p>
            <a:pPr>
              <a:buNone/>
            </a:pPr>
            <a:r>
              <a:rPr lang="vi-VN" sz="2800" b="1" dirty="0">
                <a:effectLst/>
              </a:rPr>
              <a:t>Các nghiệp vụ chính:</a:t>
            </a:r>
            <a:endParaRPr lang="en-US" sz="2800" b="1" dirty="0">
              <a:effectLst/>
            </a:endParaRPr>
          </a:p>
          <a:p>
            <a:pPr>
              <a:buNone/>
            </a:pPr>
            <a:r>
              <a:rPr lang="en-US" sz="2800" dirty="0">
                <a:effectLst/>
              </a:rPr>
              <a:t> + </a:t>
            </a:r>
            <a:r>
              <a:rPr lang="vi-VN" sz="2800" dirty="0">
                <a:effectLst/>
              </a:rPr>
              <a:t>Quản lý thế giới truyện (tạo, sửa, xóa, xem chi tiết)</a:t>
            </a:r>
            <a:r>
              <a:rPr lang="en-US" sz="2800" dirty="0">
                <a:effectLst/>
              </a:rPr>
              <a:t>.</a:t>
            </a:r>
          </a:p>
          <a:p>
            <a:pPr>
              <a:buNone/>
            </a:pPr>
            <a:r>
              <a:rPr lang="en-US" sz="2800" dirty="0">
                <a:effectLst/>
              </a:rPr>
              <a:t> + </a:t>
            </a:r>
            <a:r>
              <a:rPr lang="vi-VN" sz="2800" dirty="0">
                <a:effectLst/>
              </a:rPr>
              <a:t>Quản lý thực thể (nhân vật, địa danh, môn phái, vật phẩm, sự kiện…)</a:t>
            </a:r>
            <a:r>
              <a:rPr lang="en-US" sz="2800" dirty="0"/>
              <a:t>.</a:t>
            </a:r>
          </a:p>
          <a:p>
            <a:pPr>
              <a:buNone/>
            </a:pPr>
            <a:r>
              <a:rPr lang="en-US" sz="2800" dirty="0">
                <a:effectLst/>
              </a:rPr>
              <a:t> + </a:t>
            </a:r>
            <a:r>
              <a:rPr lang="vi-VN" sz="2800" dirty="0">
                <a:effectLst/>
              </a:rPr>
              <a:t>Quản lý mối quan hệ giữa các thực thể</a:t>
            </a:r>
            <a:r>
              <a:rPr lang="en-US" sz="2800" dirty="0">
                <a:effectLst/>
              </a:rPr>
              <a:t>.</a:t>
            </a:r>
          </a:p>
          <a:p>
            <a:pPr>
              <a:buNone/>
            </a:pPr>
            <a:r>
              <a:rPr lang="en-US" sz="2800" dirty="0">
                <a:effectLst/>
              </a:rPr>
              <a:t> + </a:t>
            </a:r>
            <a:r>
              <a:rPr lang="vi-VN" sz="2800" dirty="0">
                <a:effectLst/>
              </a:rPr>
              <a:t>Quản lý loại thực thể và nhãn (tag) phân loại</a:t>
            </a:r>
            <a:r>
              <a:rPr lang="en-US" sz="2800" dirty="0">
                <a:effectLst/>
              </a:rPr>
              <a:t>.</a:t>
            </a:r>
          </a:p>
          <a:p>
            <a:pPr>
              <a:buNone/>
            </a:pPr>
            <a:r>
              <a:rPr lang="en-US" sz="2800" dirty="0">
                <a:effectLst/>
              </a:rPr>
              <a:t> + </a:t>
            </a:r>
            <a:r>
              <a:rPr lang="vi-VN" sz="2800" dirty="0">
                <a:effectLst/>
              </a:rPr>
              <a:t>Hỗ trợ tạo/sửa nội dung bằng AI (Gemini)</a:t>
            </a:r>
            <a:r>
              <a:rPr lang="en-US" sz="2800" dirty="0">
                <a:effectLst/>
              </a:rPr>
              <a:t>.</a:t>
            </a:r>
            <a:endParaRPr lang="vi-VN" sz="2800" dirty="0">
              <a:effectLst/>
            </a:endParaRPr>
          </a:p>
          <a:p>
            <a:pPr>
              <a:buNone/>
            </a:pPr>
            <a:r>
              <a:rPr lang="vi-VN" sz="2800" b="1" dirty="0">
                <a:effectLst/>
              </a:rPr>
              <a:t>Đối tượng sử dụng:</a:t>
            </a:r>
            <a:endParaRPr lang="en-US" sz="2800" b="1" dirty="0">
              <a:effectLst/>
            </a:endParaRPr>
          </a:p>
          <a:p>
            <a:pPr>
              <a:buNone/>
            </a:pPr>
            <a:r>
              <a:rPr lang="en-US" sz="2800" dirty="0">
                <a:effectLst/>
              </a:rPr>
              <a:t> + </a:t>
            </a:r>
            <a:r>
              <a:rPr lang="vi-VN" sz="2800" dirty="0">
                <a:effectLst/>
              </a:rPr>
              <a:t>Tác giả truyện online (người dùng chính)</a:t>
            </a:r>
            <a:r>
              <a:rPr lang="en-US" sz="2800" dirty="0">
                <a:effectLst/>
              </a:rPr>
              <a:t>.</a:t>
            </a:r>
          </a:p>
          <a:p>
            <a:pPr>
              <a:buNone/>
            </a:pPr>
            <a:r>
              <a:rPr lang="en-US" sz="2800" dirty="0">
                <a:effectLst/>
              </a:rPr>
              <a:t> + </a:t>
            </a:r>
            <a:r>
              <a:rPr lang="vi-VN" sz="2800" dirty="0">
                <a:effectLst/>
              </a:rPr>
              <a:t>Quản trị viên (Admin</a:t>
            </a:r>
            <a:r>
              <a:rPr lang="en-US" sz="2800" dirty="0"/>
              <a:t>, </a:t>
            </a:r>
            <a:r>
              <a:rPr lang="en-US" sz="2800" dirty="0">
                <a:effectLst/>
                <a:latin typeface="Arial" panose="020B0604020202020204" pitchFamily="34" charset="0"/>
                <a:cs typeface="Arial" panose="020B0604020202020204" pitchFamily="34" charset="0"/>
              </a:rPr>
              <a:t>Super Admin</a:t>
            </a:r>
            <a:r>
              <a:rPr lang="en-US" dirty="0">
                <a:latin typeface="Arial" panose="020B0604020202020204" pitchFamily="34" charset="0"/>
                <a:cs typeface="Arial" panose="020B0604020202020204" pitchFamily="34" charset="0"/>
              </a:rPr>
              <a:t> </a:t>
            </a:r>
            <a:r>
              <a:rPr lang="vi-VN" sz="2800" dirty="0">
                <a:effectLst/>
              </a:rPr>
              <a:t>)</a:t>
            </a:r>
            <a:r>
              <a:rPr lang="en-US" sz="2800" dirty="0">
                <a:effectLst/>
              </a:rPr>
              <a:t>.</a:t>
            </a:r>
            <a:endParaRPr lang="vi-VN" sz="2800" dirty="0">
              <a:effectLst/>
            </a:endParaRPr>
          </a:p>
        </p:txBody>
      </p:sp>
      <p:sp>
        <p:nvSpPr>
          <p:cNvPr id="4" name="Freeform 4"/>
          <p:cNvSpPr/>
          <p:nvPr/>
        </p:nvSpPr>
        <p:spPr>
          <a:xfrm rot="1049988">
            <a:off x="14966220" y="5512056"/>
            <a:ext cx="5127233" cy="6459507"/>
          </a:xfrm>
          <a:custGeom>
            <a:avLst/>
            <a:gdLst/>
            <a:ahLst/>
            <a:cxnLst/>
            <a:rect l="l" t="t" r="r" b="b"/>
            <a:pathLst>
              <a:path w="5127233" h="6459507">
                <a:moveTo>
                  <a:pt x="0" y="0"/>
                </a:moveTo>
                <a:lnTo>
                  <a:pt x="5127234" y="0"/>
                </a:lnTo>
                <a:lnTo>
                  <a:pt x="5127234" y="6459507"/>
                </a:lnTo>
                <a:lnTo>
                  <a:pt x="0" y="64595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8428772" flipV="1">
            <a:off x="-2015692" y="-1701866"/>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835125">
            <a:off x="1165391" y="2434220"/>
            <a:ext cx="9559336" cy="13515771"/>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0800000">
            <a:off x="6840821" y="5600802"/>
            <a:ext cx="9559336" cy="13515771"/>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00200" y="571501"/>
            <a:ext cx="15087600" cy="9454056"/>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130333" y="7048500"/>
            <a:ext cx="1154919" cy="1100323"/>
          </a:xfrm>
          <a:custGeom>
            <a:avLst/>
            <a:gdLst/>
            <a:ahLst/>
            <a:cxnLst/>
            <a:rect l="l" t="t" r="r" b="b"/>
            <a:pathLst>
              <a:path w="1154919" h="1100323">
                <a:moveTo>
                  <a:pt x="0" y="0"/>
                </a:moveTo>
                <a:lnTo>
                  <a:pt x="1154919" y="0"/>
                </a:lnTo>
                <a:lnTo>
                  <a:pt x="1154919" y="1100322"/>
                </a:lnTo>
                <a:lnTo>
                  <a:pt x="0" y="11003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751388">
            <a:off x="-935829" y="-774598"/>
            <a:ext cx="3860617" cy="3924388"/>
          </a:xfrm>
          <a:custGeom>
            <a:avLst/>
            <a:gdLst/>
            <a:ahLst/>
            <a:cxnLst/>
            <a:rect l="l" t="t" r="r" b="b"/>
            <a:pathLst>
              <a:path w="3860617" h="3924388">
                <a:moveTo>
                  <a:pt x="0" y="0"/>
                </a:moveTo>
                <a:lnTo>
                  <a:pt x="3860618" y="0"/>
                </a:lnTo>
                <a:lnTo>
                  <a:pt x="3860618" y="3924389"/>
                </a:lnTo>
                <a:lnTo>
                  <a:pt x="0" y="39243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rot="1810636">
            <a:off x="3603089" y="164508"/>
            <a:ext cx="1157000" cy="1102305"/>
          </a:xfrm>
          <a:custGeom>
            <a:avLst/>
            <a:gdLst/>
            <a:ahLst/>
            <a:cxnLst/>
            <a:rect l="l" t="t" r="r" b="b"/>
            <a:pathLst>
              <a:path w="1157000" h="1102305">
                <a:moveTo>
                  <a:pt x="0" y="0"/>
                </a:moveTo>
                <a:lnTo>
                  <a:pt x="1156999" y="0"/>
                </a:lnTo>
                <a:lnTo>
                  <a:pt x="1156999" y="1102306"/>
                </a:lnTo>
                <a:lnTo>
                  <a:pt x="0" y="11023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21277902">
            <a:off x="16154126" y="1331209"/>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TextBox 12">
            <a:extLst>
              <a:ext uri="{FF2B5EF4-FFF2-40B4-BE49-F238E27FC236}">
                <a16:creationId xmlns:a16="http://schemas.microsoft.com/office/drawing/2014/main" id="{B0AD3BB3-B219-7F66-4CC7-D9179E32BB3E}"/>
              </a:ext>
            </a:extLst>
          </p:cNvPr>
          <p:cNvSpPr txBox="1"/>
          <p:nvPr/>
        </p:nvSpPr>
        <p:spPr>
          <a:xfrm>
            <a:off x="6840821" y="900324"/>
            <a:ext cx="4138177" cy="707886"/>
          </a:xfrm>
          <a:prstGeom prst="rect">
            <a:avLst/>
          </a:prstGeom>
          <a:noFill/>
        </p:spPr>
        <p:txBody>
          <a:bodyPr wrap="square">
            <a:spAutoFit/>
          </a:bodyPr>
          <a:lstStyle/>
          <a:p>
            <a:r>
              <a:rPr lang="vi-VN" sz="4000" b="1" dirty="0"/>
              <a:t>CƠ SỞ DỮ LIỆU</a:t>
            </a:r>
            <a:endParaRPr lang="en-US" sz="4000" b="1" dirty="0"/>
          </a:p>
        </p:txBody>
      </p:sp>
      <p:pic>
        <p:nvPicPr>
          <p:cNvPr id="7" name="Picture 6">
            <a:extLst>
              <a:ext uri="{FF2B5EF4-FFF2-40B4-BE49-F238E27FC236}">
                <a16:creationId xmlns:a16="http://schemas.microsoft.com/office/drawing/2014/main" id="{CB4BEF51-6EC5-C1B7-31FD-30BCFBEE707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18802" y="1602767"/>
            <a:ext cx="11450396" cy="7933716"/>
          </a:xfrm>
          <a:prstGeom prst="rect">
            <a:avLst/>
          </a:prstGeom>
        </p:spPr>
      </p:pic>
      <p:sp>
        <p:nvSpPr>
          <p:cNvPr id="14" name="Freeform 8">
            <a:extLst>
              <a:ext uri="{FF2B5EF4-FFF2-40B4-BE49-F238E27FC236}">
                <a16:creationId xmlns:a16="http://schemas.microsoft.com/office/drawing/2014/main" id="{6B46F05A-DAEB-7C14-DE7C-F5D527D2F4CB}"/>
              </a:ext>
            </a:extLst>
          </p:cNvPr>
          <p:cNvSpPr/>
          <p:nvPr/>
        </p:nvSpPr>
        <p:spPr>
          <a:xfrm rot="1107650">
            <a:off x="14728222" y="7558771"/>
            <a:ext cx="3860617" cy="3924388"/>
          </a:xfrm>
          <a:custGeom>
            <a:avLst/>
            <a:gdLst/>
            <a:ahLst/>
            <a:cxnLst/>
            <a:rect l="l" t="t" r="r" b="b"/>
            <a:pathLst>
              <a:path w="3860617" h="3924388">
                <a:moveTo>
                  <a:pt x="0" y="0"/>
                </a:moveTo>
                <a:lnTo>
                  <a:pt x="3860618" y="0"/>
                </a:lnTo>
                <a:lnTo>
                  <a:pt x="3860618" y="3924389"/>
                </a:lnTo>
                <a:lnTo>
                  <a:pt x="0" y="39243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a:extLst>
            <a:ext uri="{FF2B5EF4-FFF2-40B4-BE49-F238E27FC236}">
              <a16:creationId xmlns:a16="http://schemas.microsoft.com/office/drawing/2014/main" id="{30BE047F-EFBC-4AD1-23FE-6C3C0B8E0776}"/>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31889BB-EEFF-716D-457E-0842367F9BCA}"/>
              </a:ext>
            </a:extLst>
          </p:cNvPr>
          <p:cNvSpPr/>
          <p:nvPr/>
        </p:nvSpPr>
        <p:spPr>
          <a:xfrm rot="1049988">
            <a:off x="16048681" y="5596380"/>
            <a:ext cx="5127233" cy="6459507"/>
          </a:xfrm>
          <a:custGeom>
            <a:avLst/>
            <a:gdLst/>
            <a:ahLst/>
            <a:cxnLst/>
            <a:rect l="l" t="t" r="r" b="b"/>
            <a:pathLst>
              <a:path w="5127233" h="6459507">
                <a:moveTo>
                  <a:pt x="0" y="0"/>
                </a:moveTo>
                <a:lnTo>
                  <a:pt x="5127234" y="0"/>
                </a:lnTo>
                <a:lnTo>
                  <a:pt x="5127234" y="6459507"/>
                </a:lnTo>
                <a:lnTo>
                  <a:pt x="0" y="6459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CDB5B5F0-3C67-B37A-7B31-36B86EA59093}"/>
              </a:ext>
            </a:extLst>
          </p:cNvPr>
          <p:cNvSpPr/>
          <p:nvPr/>
        </p:nvSpPr>
        <p:spPr>
          <a:xfrm rot="-10623996">
            <a:off x="14718196" y="5874170"/>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5" name="Freeform 5">
            <a:extLst>
              <a:ext uri="{FF2B5EF4-FFF2-40B4-BE49-F238E27FC236}">
                <a16:creationId xmlns:a16="http://schemas.microsoft.com/office/drawing/2014/main" id="{6CA6A29E-3347-3A17-CCF8-99CA6C55758D}"/>
              </a:ext>
            </a:extLst>
          </p:cNvPr>
          <p:cNvSpPr/>
          <p:nvPr/>
        </p:nvSpPr>
        <p:spPr>
          <a:xfrm>
            <a:off x="15249476" y="1777569"/>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81204F3A-E16E-2E94-1625-D69EDA7A80B2}"/>
              </a:ext>
            </a:extLst>
          </p:cNvPr>
          <p:cNvSpPr/>
          <p:nvPr/>
        </p:nvSpPr>
        <p:spPr>
          <a:xfrm rot="-8428772" flipV="1">
            <a:off x="-3201010" y="-2633043"/>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56B5A93B-2033-A6E1-5C0A-B9C827392E69}"/>
              </a:ext>
            </a:extLst>
          </p:cNvPr>
          <p:cNvSpPr/>
          <p:nvPr/>
        </p:nvSpPr>
        <p:spPr>
          <a:xfrm rot="-8026575">
            <a:off x="15854018" y="-988822"/>
            <a:ext cx="3304221" cy="3148021"/>
          </a:xfrm>
          <a:custGeom>
            <a:avLst/>
            <a:gdLst/>
            <a:ahLst/>
            <a:cxnLst/>
            <a:rect l="l" t="t" r="r" b="b"/>
            <a:pathLst>
              <a:path w="3304221" h="3148021">
                <a:moveTo>
                  <a:pt x="0" y="0"/>
                </a:moveTo>
                <a:lnTo>
                  <a:pt x="3304221" y="0"/>
                </a:lnTo>
                <a:lnTo>
                  <a:pt x="3304221" y="3148021"/>
                </a:lnTo>
                <a:lnTo>
                  <a:pt x="0" y="31480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4">
            <a:extLst>
              <a:ext uri="{FF2B5EF4-FFF2-40B4-BE49-F238E27FC236}">
                <a16:creationId xmlns:a16="http://schemas.microsoft.com/office/drawing/2014/main" id="{A1557C78-E797-A458-467A-8FB21540014C}"/>
              </a:ext>
            </a:extLst>
          </p:cNvPr>
          <p:cNvSpPr/>
          <p:nvPr/>
        </p:nvSpPr>
        <p:spPr>
          <a:xfrm>
            <a:off x="1692109" y="470058"/>
            <a:ext cx="13275112" cy="9009832"/>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a:extLst>
              <a:ext uri="{FF2B5EF4-FFF2-40B4-BE49-F238E27FC236}">
                <a16:creationId xmlns:a16="http://schemas.microsoft.com/office/drawing/2014/main" id="{EDA0CB77-7C34-9AFF-2B0E-00A3F461BC0E}"/>
              </a:ext>
            </a:extLst>
          </p:cNvPr>
          <p:cNvSpPr/>
          <p:nvPr/>
        </p:nvSpPr>
        <p:spPr>
          <a:xfrm rot="21030578">
            <a:off x="-41264" y="4544134"/>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3">
            <a:extLst>
              <a:ext uri="{FF2B5EF4-FFF2-40B4-BE49-F238E27FC236}">
                <a16:creationId xmlns:a16="http://schemas.microsoft.com/office/drawing/2014/main" id="{57B5460B-693F-E1E2-B004-0E1E34E6A76C}"/>
              </a:ext>
            </a:extLst>
          </p:cNvPr>
          <p:cNvSpPr txBox="1"/>
          <p:nvPr/>
        </p:nvSpPr>
        <p:spPr>
          <a:xfrm>
            <a:off x="5548407" y="1069683"/>
            <a:ext cx="5562515"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USECASE HỆ THỐNG</a:t>
            </a:r>
          </a:p>
        </p:txBody>
      </p:sp>
      <p:sp>
        <p:nvSpPr>
          <p:cNvPr id="8" name="Freeform 8">
            <a:extLst>
              <a:ext uri="{FF2B5EF4-FFF2-40B4-BE49-F238E27FC236}">
                <a16:creationId xmlns:a16="http://schemas.microsoft.com/office/drawing/2014/main" id="{BBD5A211-D0C7-6748-5C30-74EDE7D05807}"/>
              </a:ext>
            </a:extLst>
          </p:cNvPr>
          <p:cNvSpPr/>
          <p:nvPr/>
        </p:nvSpPr>
        <p:spPr>
          <a:xfrm rot="18805076">
            <a:off x="379739" y="8621090"/>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pic>
        <p:nvPicPr>
          <p:cNvPr id="13" name="Picture 12">
            <a:extLst>
              <a:ext uri="{FF2B5EF4-FFF2-40B4-BE49-F238E27FC236}">
                <a16:creationId xmlns:a16="http://schemas.microsoft.com/office/drawing/2014/main" id="{8A91E625-74B2-2C9B-E41D-99E4EF87BD2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332811" y="1890917"/>
            <a:ext cx="10453596" cy="7073331"/>
          </a:xfrm>
          <a:prstGeom prst="rect">
            <a:avLst/>
          </a:prstGeom>
        </p:spPr>
      </p:pic>
      <p:pic>
        <p:nvPicPr>
          <p:cNvPr id="11" name="Picture 11">
            <a:extLst>
              <a:ext uri="{FF2B5EF4-FFF2-40B4-BE49-F238E27FC236}">
                <a16:creationId xmlns:a16="http://schemas.microsoft.com/office/drawing/2014/main" id="{FA6C0137-19AD-2644-D57F-DFB603B0472D}"/>
              </a:ext>
            </a:extLst>
          </p:cNvPr>
          <p:cNvPicPr>
            <a:picLocks noChangeAspect="1"/>
          </p:cNvPicPr>
          <p:nvPr/>
        </p:nvPicPr>
        <p:blipFill>
          <a:blip r:embed="rId13"/>
          <a:stretch>
            <a:fillRect/>
          </a:stretch>
        </p:blipFill>
        <p:spPr>
          <a:xfrm rot="18809483">
            <a:off x="11871830" y="8190231"/>
            <a:ext cx="2588677" cy="2588677"/>
          </a:xfrm>
          <a:prstGeom prst="rect">
            <a:avLst/>
          </a:prstGeom>
        </p:spPr>
      </p:pic>
      <p:sp>
        <p:nvSpPr>
          <p:cNvPr id="9" name="Freeform 9">
            <a:extLst>
              <a:ext uri="{FF2B5EF4-FFF2-40B4-BE49-F238E27FC236}">
                <a16:creationId xmlns:a16="http://schemas.microsoft.com/office/drawing/2014/main" id="{90D495DA-5BF0-282D-1103-A35FAB1F2CC5}"/>
              </a:ext>
            </a:extLst>
          </p:cNvPr>
          <p:cNvSpPr/>
          <p:nvPr/>
        </p:nvSpPr>
        <p:spPr>
          <a:xfrm rot="21102203">
            <a:off x="3212463" y="8885562"/>
            <a:ext cx="2545286" cy="2621244"/>
          </a:xfrm>
          <a:custGeom>
            <a:avLst/>
            <a:gdLst/>
            <a:ahLst/>
            <a:cxnLst/>
            <a:rect l="l" t="t" r="r" b="b"/>
            <a:pathLst>
              <a:path w="3304221" h="3148021">
                <a:moveTo>
                  <a:pt x="0" y="0"/>
                </a:moveTo>
                <a:lnTo>
                  <a:pt x="3304220" y="0"/>
                </a:lnTo>
                <a:lnTo>
                  <a:pt x="3304220" y="3148022"/>
                </a:lnTo>
                <a:lnTo>
                  <a:pt x="0" y="31480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Tree>
    <p:extLst>
      <p:ext uri="{BB962C8B-B14F-4D97-AF65-F5344CB8AC3E}">
        <p14:creationId xmlns:p14="http://schemas.microsoft.com/office/powerpoint/2010/main" val="3479070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a:extLst>
            <a:ext uri="{FF2B5EF4-FFF2-40B4-BE49-F238E27FC236}">
              <a16:creationId xmlns:a16="http://schemas.microsoft.com/office/drawing/2014/main" id="{73DA327A-7923-7FB7-F327-588C0CDCCD4D}"/>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25F648E-E5BA-A6EA-4DBD-7CB30C244888}"/>
              </a:ext>
            </a:extLst>
          </p:cNvPr>
          <p:cNvSpPr/>
          <p:nvPr/>
        </p:nvSpPr>
        <p:spPr>
          <a:xfrm rot="1049988">
            <a:off x="16048681" y="5596380"/>
            <a:ext cx="5127233" cy="6459507"/>
          </a:xfrm>
          <a:custGeom>
            <a:avLst/>
            <a:gdLst/>
            <a:ahLst/>
            <a:cxnLst/>
            <a:rect l="l" t="t" r="r" b="b"/>
            <a:pathLst>
              <a:path w="5127233" h="6459507">
                <a:moveTo>
                  <a:pt x="0" y="0"/>
                </a:moveTo>
                <a:lnTo>
                  <a:pt x="5127234" y="0"/>
                </a:lnTo>
                <a:lnTo>
                  <a:pt x="5127234" y="6459507"/>
                </a:lnTo>
                <a:lnTo>
                  <a:pt x="0" y="6459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8DBDE5F8-1EA7-D72F-595F-8F6BDB5C5E28}"/>
              </a:ext>
            </a:extLst>
          </p:cNvPr>
          <p:cNvSpPr/>
          <p:nvPr/>
        </p:nvSpPr>
        <p:spPr>
          <a:xfrm rot="-10623996">
            <a:off x="14718196" y="5874170"/>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5" name="Freeform 5">
            <a:extLst>
              <a:ext uri="{FF2B5EF4-FFF2-40B4-BE49-F238E27FC236}">
                <a16:creationId xmlns:a16="http://schemas.microsoft.com/office/drawing/2014/main" id="{7283EDD6-1CAF-BFF3-A6B2-7F717CA09E19}"/>
              </a:ext>
            </a:extLst>
          </p:cNvPr>
          <p:cNvSpPr/>
          <p:nvPr/>
        </p:nvSpPr>
        <p:spPr>
          <a:xfrm>
            <a:off x="15249476" y="1777569"/>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C4A18A11-BF47-DEF9-BC2A-19BADDD2FB77}"/>
              </a:ext>
            </a:extLst>
          </p:cNvPr>
          <p:cNvSpPr/>
          <p:nvPr/>
        </p:nvSpPr>
        <p:spPr>
          <a:xfrm rot="-8428772" flipV="1">
            <a:off x="-3201010" y="-2633043"/>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3768259C-8707-7E89-4C5E-E9C48A0F34C2}"/>
              </a:ext>
            </a:extLst>
          </p:cNvPr>
          <p:cNvSpPr/>
          <p:nvPr/>
        </p:nvSpPr>
        <p:spPr>
          <a:xfrm rot="-8026575">
            <a:off x="15854018" y="-988822"/>
            <a:ext cx="3304221" cy="3148021"/>
          </a:xfrm>
          <a:custGeom>
            <a:avLst/>
            <a:gdLst/>
            <a:ahLst/>
            <a:cxnLst/>
            <a:rect l="l" t="t" r="r" b="b"/>
            <a:pathLst>
              <a:path w="3304221" h="3148021">
                <a:moveTo>
                  <a:pt x="0" y="0"/>
                </a:moveTo>
                <a:lnTo>
                  <a:pt x="3304221" y="0"/>
                </a:lnTo>
                <a:lnTo>
                  <a:pt x="3304221" y="3148021"/>
                </a:lnTo>
                <a:lnTo>
                  <a:pt x="0" y="31480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4">
            <a:extLst>
              <a:ext uri="{FF2B5EF4-FFF2-40B4-BE49-F238E27FC236}">
                <a16:creationId xmlns:a16="http://schemas.microsoft.com/office/drawing/2014/main" id="{8AE301FA-3298-3E0B-39F2-9CF2F25E2EC1}"/>
              </a:ext>
            </a:extLst>
          </p:cNvPr>
          <p:cNvSpPr/>
          <p:nvPr/>
        </p:nvSpPr>
        <p:spPr>
          <a:xfrm>
            <a:off x="1692109" y="470058"/>
            <a:ext cx="13504026" cy="9009832"/>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a:extLst>
              <a:ext uri="{FF2B5EF4-FFF2-40B4-BE49-F238E27FC236}">
                <a16:creationId xmlns:a16="http://schemas.microsoft.com/office/drawing/2014/main" id="{44C79F41-8569-21D8-F55B-AEEB792D3306}"/>
              </a:ext>
            </a:extLst>
          </p:cNvPr>
          <p:cNvSpPr/>
          <p:nvPr/>
        </p:nvSpPr>
        <p:spPr>
          <a:xfrm rot="21030578">
            <a:off x="-41264" y="4544134"/>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3">
            <a:extLst>
              <a:ext uri="{FF2B5EF4-FFF2-40B4-BE49-F238E27FC236}">
                <a16:creationId xmlns:a16="http://schemas.microsoft.com/office/drawing/2014/main" id="{B2D6181E-271E-CA7F-6E8A-E8AD9B728F6B}"/>
              </a:ext>
            </a:extLst>
          </p:cNvPr>
          <p:cNvSpPr txBox="1"/>
          <p:nvPr/>
        </p:nvSpPr>
        <p:spPr>
          <a:xfrm>
            <a:off x="5548407" y="1069683"/>
            <a:ext cx="5562515"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USECASE HỆ THỐNG</a:t>
            </a:r>
          </a:p>
        </p:txBody>
      </p:sp>
      <p:sp>
        <p:nvSpPr>
          <p:cNvPr id="8" name="Freeform 8">
            <a:extLst>
              <a:ext uri="{FF2B5EF4-FFF2-40B4-BE49-F238E27FC236}">
                <a16:creationId xmlns:a16="http://schemas.microsoft.com/office/drawing/2014/main" id="{86DB201E-5C6F-9D05-FC5A-A4F351B93CCA}"/>
              </a:ext>
            </a:extLst>
          </p:cNvPr>
          <p:cNvSpPr/>
          <p:nvPr/>
        </p:nvSpPr>
        <p:spPr>
          <a:xfrm rot="18805076">
            <a:off x="379739" y="8621090"/>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pic>
        <p:nvPicPr>
          <p:cNvPr id="12" name="Picture 11">
            <a:extLst>
              <a:ext uri="{FF2B5EF4-FFF2-40B4-BE49-F238E27FC236}">
                <a16:creationId xmlns:a16="http://schemas.microsoft.com/office/drawing/2014/main" id="{D451B6CC-F152-6A74-1EE9-77946E1A6CF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58970" y="1933525"/>
            <a:ext cx="11915775" cy="6677025"/>
          </a:xfrm>
          <a:prstGeom prst="rect">
            <a:avLst/>
          </a:prstGeom>
        </p:spPr>
      </p:pic>
      <p:pic>
        <p:nvPicPr>
          <p:cNvPr id="11" name="Picture 11">
            <a:extLst>
              <a:ext uri="{FF2B5EF4-FFF2-40B4-BE49-F238E27FC236}">
                <a16:creationId xmlns:a16="http://schemas.microsoft.com/office/drawing/2014/main" id="{723DBFB2-4D53-A4D7-D871-13F4FAA01537}"/>
              </a:ext>
            </a:extLst>
          </p:cNvPr>
          <p:cNvPicPr>
            <a:picLocks noChangeAspect="1"/>
          </p:cNvPicPr>
          <p:nvPr/>
        </p:nvPicPr>
        <p:blipFill>
          <a:blip r:embed="rId13"/>
          <a:stretch>
            <a:fillRect/>
          </a:stretch>
        </p:blipFill>
        <p:spPr>
          <a:xfrm rot="15056520">
            <a:off x="12049715" y="8008505"/>
            <a:ext cx="2588677" cy="2588677"/>
          </a:xfrm>
          <a:prstGeom prst="rect">
            <a:avLst/>
          </a:prstGeom>
        </p:spPr>
      </p:pic>
      <p:sp>
        <p:nvSpPr>
          <p:cNvPr id="9" name="Freeform 9">
            <a:extLst>
              <a:ext uri="{FF2B5EF4-FFF2-40B4-BE49-F238E27FC236}">
                <a16:creationId xmlns:a16="http://schemas.microsoft.com/office/drawing/2014/main" id="{88BFDD66-56F3-DEC0-51E9-009B27B0AF15}"/>
              </a:ext>
            </a:extLst>
          </p:cNvPr>
          <p:cNvSpPr/>
          <p:nvPr/>
        </p:nvSpPr>
        <p:spPr>
          <a:xfrm rot="21102203">
            <a:off x="3212463" y="8885562"/>
            <a:ext cx="2545286" cy="2621244"/>
          </a:xfrm>
          <a:custGeom>
            <a:avLst/>
            <a:gdLst/>
            <a:ahLst/>
            <a:cxnLst/>
            <a:rect l="l" t="t" r="r" b="b"/>
            <a:pathLst>
              <a:path w="3304221" h="3148021">
                <a:moveTo>
                  <a:pt x="0" y="0"/>
                </a:moveTo>
                <a:lnTo>
                  <a:pt x="3304220" y="0"/>
                </a:lnTo>
                <a:lnTo>
                  <a:pt x="3304220" y="3148022"/>
                </a:lnTo>
                <a:lnTo>
                  <a:pt x="0" y="31480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Tree>
    <p:extLst>
      <p:ext uri="{BB962C8B-B14F-4D97-AF65-F5344CB8AC3E}">
        <p14:creationId xmlns:p14="http://schemas.microsoft.com/office/powerpoint/2010/main" val="3910808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a:extLst>
            <a:ext uri="{FF2B5EF4-FFF2-40B4-BE49-F238E27FC236}">
              <a16:creationId xmlns:a16="http://schemas.microsoft.com/office/drawing/2014/main" id="{96469F50-89C1-5155-E793-D295D204A75F}"/>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9FA5792-B6F2-2883-CC07-DF8D29817E95}"/>
              </a:ext>
            </a:extLst>
          </p:cNvPr>
          <p:cNvSpPr/>
          <p:nvPr/>
        </p:nvSpPr>
        <p:spPr>
          <a:xfrm rot="1049988">
            <a:off x="16048681" y="5596380"/>
            <a:ext cx="5127233" cy="6459507"/>
          </a:xfrm>
          <a:custGeom>
            <a:avLst/>
            <a:gdLst/>
            <a:ahLst/>
            <a:cxnLst/>
            <a:rect l="l" t="t" r="r" b="b"/>
            <a:pathLst>
              <a:path w="5127233" h="6459507">
                <a:moveTo>
                  <a:pt x="0" y="0"/>
                </a:moveTo>
                <a:lnTo>
                  <a:pt x="5127234" y="0"/>
                </a:lnTo>
                <a:lnTo>
                  <a:pt x="5127234" y="6459507"/>
                </a:lnTo>
                <a:lnTo>
                  <a:pt x="0" y="6459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AABA2002-4EB3-6C91-A1F0-E3CEB61A66AA}"/>
              </a:ext>
            </a:extLst>
          </p:cNvPr>
          <p:cNvSpPr/>
          <p:nvPr/>
        </p:nvSpPr>
        <p:spPr>
          <a:xfrm>
            <a:off x="15249476" y="1777569"/>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a:extLst>
              <a:ext uri="{FF2B5EF4-FFF2-40B4-BE49-F238E27FC236}">
                <a16:creationId xmlns:a16="http://schemas.microsoft.com/office/drawing/2014/main" id="{DBCB8CCE-4A69-D0A3-04DC-A6DA709C042B}"/>
              </a:ext>
            </a:extLst>
          </p:cNvPr>
          <p:cNvSpPr/>
          <p:nvPr/>
        </p:nvSpPr>
        <p:spPr>
          <a:xfrm rot="-8428772" flipV="1">
            <a:off x="-3201010" y="-2633043"/>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BB93D2AC-F61B-2A30-0D1B-CD50E9896F7A}"/>
              </a:ext>
            </a:extLst>
          </p:cNvPr>
          <p:cNvSpPr/>
          <p:nvPr/>
        </p:nvSpPr>
        <p:spPr>
          <a:xfrm rot="-8026575">
            <a:off x="15854018" y="-988822"/>
            <a:ext cx="3304221" cy="3148021"/>
          </a:xfrm>
          <a:custGeom>
            <a:avLst/>
            <a:gdLst/>
            <a:ahLst/>
            <a:cxnLst/>
            <a:rect l="l" t="t" r="r" b="b"/>
            <a:pathLst>
              <a:path w="3304221" h="3148021">
                <a:moveTo>
                  <a:pt x="0" y="0"/>
                </a:moveTo>
                <a:lnTo>
                  <a:pt x="3304221" y="0"/>
                </a:lnTo>
                <a:lnTo>
                  <a:pt x="3304221" y="3148021"/>
                </a:lnTo>
                <a:lnTo>
                  <a:pt x="0" y="31480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4">
            <a:extLst>
              <a:ext uri="{FF2B5EF4-FFF2-40B4-BE49-F238E27FC236}">
                <a16:creationId xmlns:a16="http://schemas.microsoft.com/office/drawing/2014/main" id="{C427768E-8F4C-E5C5-D0A6-4CA3C1BCDDDF}"/>
              </a:ext>
            </a:extLst>
          </p:cNvPr>
          <p:cNvSpPr/>
          <p:nvPr/>
        </p:nvSpPr>
        <p:spPr>
          <a:xfrm>
            <a:off x="1692108" y="470058"/>
            <a:ext cx="13557367" cy="9816942"/>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a:extLst>
              <a:ext uri="{FF2B5EF4-FFF2-40B4-BE49-F238E27FC236}">
                <a16:creationId xmlns:a16="http://schemas.microsoft.com/office/drawing/2014/main" id="{9FC2DF63-F880-F61A-6D48-2D5B09E05012}"/>
              </a:ext>
            </a:extLst>
          </p:cNvPr>
          <p:cNvSpPr/>
          <p:nvPr/>
        </p:nvSpPr>
        <p:spPr>
          <a:xfrm rot="21030578">
            <a:off x="-41264" y="4544134"/>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3">
            <a:extLst>
              <a:ext uri="{FF2B5EF4-FFF2-40B4-BE49-F238E27FC236}">
                <a16:creationId xmlns:a16="http://schemas.microsoft.com/office/drawing/2014/main" id="{8725190B-9CFF-B07B-7313-0D48D5074819}"/>
              </a:ext>
            </a:extLst>
          </p:cNvPr>
          <p:cNvSpPr txBox="1"/>
          <p:nvPr/>
        </p:nvSpPr>
        <p:spPr>
          <a:xfrm>
            <a:off x="5548407" y="1069683"/>
            <a:ext cx="5562515" cy="707886"/>
          </a:xfrm>
          <a:prstGeom prst="rect">
            <a:avLst/>
          </a:prstGeom>
          <a:noFill/>
        </p:spPr>
        <p:txBody>
          <a:bodyPr wrap="square">
            <a:spAutoFit/>
          </a:bodyPr>
          <a:lstStyle/>
          <a:p>
            <a:r>
              <a:rPr lang="en-US" sz="4000" b="1" dirty="0">
                <a:latin typeface="Arial" panose="020B0604020202020204" pitchFamily="34" charset="0"/>
                <a:cs typeface="Arial" panose="020B0604020202020204" pitchFamily="34" charset="0"/>
              </a:rPr>
              <a:t>USECASE HỆ THỐNG</a:t>
            </a:r>
          </a:p>
        </p:txBody>
      </p:sp>
      <p:sp>
        <p:nvSpPr>
          <p:cNvPr id="8" name="Freeform 8">
            <a:extLst>
              <a:ext uri="{FF2B5EF4-FFF2-40B4-BE49-F238E27FC236}">
                <a16:creationId xmlns:a16="http://schemas.microsoft.com/office/drawing/2014/main" id="{A3922B8A-4686-5F63-6F82-6B904587A45F}"/>
              </a:ext>
            </a:extLst>
          </p:cNvPr>
          <p:cNvSpPr/>
          <p:nvPr/>
        </p:nvSpPr>
        <p:spPr>
          <a:xfrm rot="18805076">
            <a:off x="111831" y="8396394"/>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pic>
        <p:nvPicPr>
          <p:cNvPr id="12" name="Picture 11">
            <a:extLst>
              <a:ext uri="{FF2B5EF4-FFF2-40B4-BE49-F238E27FC236}">
                <a16:creationId xmlns:a16="http://schemas.microsoft.com/office/drawing/2014/main" id="{CD283A8B-56C1-C4EC-F8F6-B7871813BBD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06448" y="1777569"/>
            <a:ext cx="11915775" cy="7629525"/>
          </a:xfrm>
          <a:prstGeom prst="rect">
            <a:avLst/>
          </a:prstGeom>
        </p:spPr>
      </p:pic>
      <p:pic>
        <p:nvPicPr>
          <p:cNvPr id="11" name="Picture 11">
            <a:extLst>
              <a:ext uri="{FF2B5EF4-FFF2-40B4-BE49-F238E27FC236}">
                <a16:creationId xmlns:a16="http://schemas.microsoft.com/office/drawing/2014/main" id="{B7D7C441-2C9E-9BB9-24C3-F27E4C4DF14E}"/>
              </a:ext>
            </a:extLst>
          </p:cNvPr>
          <p:cNvPicPr>
            <a:picLocks noChangeAspect="1"/>
          </p:cNvPicPr>
          <p:nvPr/>
        </p:nvPicPr>
        <p:blipFill>
          <a:blip r:embed="rId13"/>
          <a:stretch>
            <a:fillRect/>
          </a:stretch>
        </p:blipFill>
        <p:spPr>
          <a:xfrm rot="19536700">
            <a:off x="12125090" y="8843194"/>
            <a:ext cx="2588677" cy="2588677"/>
          </a:xfrm>
          <a:prstGeom prst="rect">
            <a:avLst/>
          </a:prstGeom>
        </p:spPr>
      </p:pic>
      <p:sp>
        <p:nvSpPr>
          <p:cNvPr id="9" name="Freeform 9">
            <a:extLst>
              <a:ext uri="{FF2B5EF4-FFF2-40B4-BE49-F238E27FC236}">
                <a16:creationId xmlns:a16="http://schemas.microsoft.com/office/drawing/2014/main" id="{ADF0CAB0-83AC-A4B4-ABAB-A43AD8AD6C6C}"/>
              </a:ext>
            </a:extLst>
          </p:cNvPr>
          <p:cNvSpPr/>
          <p:nvPr/>
        </p:nvSpPr>
        <p:spPr>
          <a:xfrm rot="21102203">
            <a:off x="2480837" y="9283317"/>
            <a:ext cx="2545286" cy="2621244"/>
          </a:xfrm>
          <a:custGeom>
            <a:avLst/>
            <a:gdLst/>
            <a:ahLst/>
            <a:cxnLst/>
            <a:rect l="l" t="t" r="r" b="b"/>
            <a:pathLst>
              <a:path w="3304221" h="3148021">
                <a:moveTo>
                  <a:pt x="0" y="0"/>
                </a:moveTo>
                <a:lnTo>
                  <a:pt x="3304220" y="0"/>
                </a:lnTo>
                <a:lnTo>
                  <a:pt x="3304220" y="3148022"/>
                </a:lnTo>
                <a:lnTo>
                  <a:pt x="0" y="31480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4" name="Freeform 4">
            <a:extLst>
              <a:ext uri="{FF2B5EF4-FFF2-40B4-BE49-F238E27FC236}">
                <a16:creationId xmlns:a16="http://schemas.microsoft.com/office/drawing/2014/main" id="{4E30BA13-290D-BF2F-531E-94E4D0770041}"/>
              </a:ext>
            </a:extLst>
          </p:cNvPr>
          <p:cNvSpPr/>
          <p:nvPr/>
        </p:nvSpPr>
        <p:spPr>
          <a:xfrm rot="-10623996">
            <a:off x="14741056" y="5772176"/>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Tree>
    <p:extLst>
      <p:ext uri="{BB962C8B-B14F-4D97-AF65-F5344CB8AC3E}">
        <p14:creationId xmlns:p14="http://schemas.microsoft.com/office/powerpoint/2010/main" val="2665354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8879652">
            <a:off x="-6250909" y="4971265"/>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1912215">
            <a:off x="15126760" y="-7523700"/>
            <a:ext cx="9559336" cy="13515771"/>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491972">
            <a:off x="15728747" y="8444999"/>
            <a:ext cx="2670641" cy="2571875"/>
          </a:xfrm>
          <a:custGeom>
            <a:avLst/>
            <a:gdLst/>
            <a:ahLst/>
            <a:cxnLst/>
            <a:rect l="l" t="t" r="r" b="b"/>
            <a:pathLst>
              <a:path w="2751926" h="2726909">
                <a:moveTo>
                  <a:pt x="0" y="0"/>
                </a:moveTo>
                <a:lnTo>
                  <a:pt x="2751926" y="0"/>
                </a:lnTo>
                <a:lnTo>
                  <a:pt x="2751926" y="2726908"/>
                </a:lnTo>
                <a:lnTo>
                  <a:pt x="0" y="27269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4">
            <a:extLst>
              <a:ext uri="{FF2B5EF4-FFF2-40B4-BE49-F238E27FC236}">
                <a16:creationId xmlns:a16="http://schemas.microsoft.com/office/drawing/2014/main" id="{F820AACA-0BEE-2090-3F4D-6FAA6B11D111}"/>
              </a:ext>
            </a:extLst>
          </p:cNvPr>
          <p:cNvSpPr/>
          <p:nvPr/>
        </p:nvSpPr>
        <p:spPr>
          <a:xfrm>
            <a:off x="1676400" y="638584"/>
            <a:ext cx="14859000" cy="9009832"/>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 name="Freeform 3"/>
          <p:cNvSpPr/>
          <p:nvPr/>
        </p:nvSpPr>
        <p:spPr>
          <a:xfrm rot="-1243308">
            <a:off x="933627" y="8079993"/>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5">
            <a:extLst>
              <a:ext uri="{FF2B5EF4-FFF2-40B4-BE49-F238E27FC236}">
                <a16:creationId xmlns:a16="http://schemas.microsoft.com/office/drawing/2014/main" id="{2CF59115-2020-44D9-1BC0-B09E36873B54}"/>
              </a:ext>
            </a:extLst>
          </p:cNvPr>
          <p:cNvSpPr txBox="1"/>
          <p:nvPr/>
        </p:nvSpPr>
        <p:spPr>
          <a:xfrm>
            <a:off x="7616727" y="1919494"/>
            <a:ext cx="2966497" cy="707886"/>
          </a:xfrm>
          <a:prstGeom prst="rect">
            <a:avLst/>
          </a:prstGeom>
          <a:noFill/>
        </p:spPr>
        <p:txBody>
          <a:bodyPr wrap="square">
            <a:spAutoFit/>
          </a:bodyPr>
          <a:lstStyle/>
          <a:p>
            <a:r>
              <a:rPr lang="vi-VN" sz="4000" b="1" dirty="0"/>
              <a:t>KẾT LUẬN</a:t>
            </a:r>
            <a:endParaRPr lang="en-US" sz="4000" b="1" dirty="0"/>
          </a:p>
        </p:txBody>
      </p:sp>
      <p:sp>
        <p:nvSpPr>
          <p:cNvPr id="18" name="Freeform 7">
            <a:extLst>
              <a:ext uri="{FF2B5EF4-FFF2-40B4-BE49-F238E27FC236}">
                <a16:creationId xmlns:a16="http://schemas.microsoft.com/office/drawing/2014/main" id="{C15B07E0-93EB-A14A-F293-0023F679C1CE}"/>
              </a:ext>
            </a:extLst>
          </p:cNvPr>
          <p:cNvSpPr/>
          <p:nvPr/>
        </p:nvSpPr>
        <p:spPr>
          <a:xfrm rot="190553">
            <a:off x="630637" y="1152182"/>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9" name="Freeform 6">
            <a:extLst>
              <a:ext uri="{FF2B5EF4-FFF2-40B4-BE49-F238E27FC236}">
                <a16:creationId xmlns:a16="http://schemas.microsoft.com/office/drawing/2014/main" id="{DEDFA5E7-266F-2BBD-5FE7-2F132B441F22}"/>
              </a:ext>
            </a:extLst>
          </p:cNvPr>
          <p:cNvSpPr/>
          <p:nvPr/>
        </p:nvSpPr>
        <p:spPr>
          <a:xfrm rot="13171228" flipV="1">
            <a:off x="-3392504" y="-2591169"/>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0" name="Freeform 3">
            <a:extLst>
              <a:ext uri="{FF2B5EF4-FFF2-40B4-BE49-F238E27FC236}">
                <a16:creationId xmlns:a16="http://schemas.microsoft.com/office/drawing/2014/main" id="{DEAC587E-144D-DF53-078B-E69358768AE8}"/>
              </a:ext>
            </a:extLst>
          </p:cNvPr>
          <p:cNvSpPr/>
          <p:nvPr/>
        </p:nvSpPr>
        <p:spPr>
          <a:xfrm rot="-1243308">
            <a:off x="15699933" y="-137906"/>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6">
            <a:extLst>
              <a:ext uri="{FF2B5EF4-FFF2-40B4-BE49-F238E27FC236}">
                <a16:creationId xmlns:a16="http://schemas.microsoft.com/office/drawing/2014/main" id="{712BF3F7-9E2C-F115-2557-3DF8E4D249AF}"/>
              </a:ext>
            </a:extLst>
          </p:cNvPr>
          <p:cNvSpPr txBox="1"/>
          <p:nvPr/>
        </p:nvSpPr>
        <p:spPr>
          <a:xfrm>
            <a:off x="2957594" y="3576699"/>
            <a:ext cx="13173806" cy="3108543"/>
          </a:xfrm>
          <a:prstGeom prst="rect">
            <a:avLst/>
          </a:prstGeom>
          <a:noFill/>
        </p:spPr>
        <p:txBody>
          <a:bodyPr wrap="square">
            <a:spAutoFit/>
          </a:bodyPr>
          <a:lstStyle/>
          <a:p>
            <a:pPr>
              <a:buNone/>
            </a:pPr>
            <a:r>
              <a:rPr lang="vi-VN" sz="2800" dirty="0">
                <a:effectLst/>
              </a:rPr>
              <a:t>Đề tài “Xây dựng hệ thống quản lý thế giới ảo trong truyện online” đã hoàn thành mục tiêu đề ra là xây dựng một hệ thống hỗ trợ tác giả quản lý thế giới truyện một cách hiệu quả. Hệ thống giúp tin học hóa các nghiệp vụ như quản lý thế giới, </a:t>
            </a:r>
            <a:endParaRPr lang="en-US" sz="2800" dirty="0">
              <a:effectLst/>
            </a:endParaRPr>
          </a:p>
          <a:p>
            <a:pPr>
              <a:buNone/>
            </a:pPr>
            <a:r>
              <a:rPr lang="vi-VN" sz="2800" dirty="0">
                <a:effectLst/>
              </a:rPr>
              <a:t>thực thể (nhân vật, địa danh, môn phái, vật phẩm, sự kiện…), mối quan hệ giữa các thực thể và phân loại bằng nhãn (tag), đồng thời tích hợp AI hỗ trợ gợi ý, tạo/sửa mô tả tự động, từ đó giảm sai sót, duy trì tính nhất quán và tiết kiệm thời gian trong quá trình sáng tác truyện dài.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a:extLst>
            <a:ext uri="{FF2B5EF4-FFF2-40B4-BE49-F238E27FC236}">
              <a16:creationId xmlns:a16="http://schemas.microsoft.com/office/drawing/2014/main" id="{2B3C10AB-FD4F-8726-8E86-6CA4D66459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37B4F9-237B-A739-8022-0758938447A9}"/>
              </a:ext>
            </a:extLst>
          </p:cNvPr>
          <p:cNvSpPr/>
          <p:nvPr/>
        </p:nvSpPr>
        <p:spPr>
          <a:xfrm rot="8879652">
            <a:off x="-6250909" y="4971265"/>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0F345896-1995-9593-AD8A-7B4D8469EB68}"/>
              </a:ext>
            </a:extLst>
          </p:cNvPr>
          <p:cNvSpPr/>
          <p:nvPr/>
        </p:nvSpPr>
        <p:spPr>
          <a:xfrm rot="-1912215">
            <a:off x="15126760" y="-7523700"/>
            <a:ext cx="9559336" cy="13515771"/>
          </a:xfrm>
          <a:custGeom>
            <a:avLst/>
            <a:gdLst/>
            <a:ahLst/>
            <a:cxnLst/>
            <a:rect l="l" t="t" r="r" b="b"/>
            <a:pathLst>
              <a:path w="9559336" h="13515771">
                <a:moveTo>
                  <a:pt x="0" y="0"/>
                </a:moveTo>
                <a:lnTo>
                  <a:pt x="9559336" y="0"/>
                </a:lnTo>
                <a:lnTo>
                  <a:pt x="9559336" y="13515771"/>
                </a:lnTo>
                <a:lnTo>
                  <a:pt x="0" y="135157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4">
            <a:extLst>
              <a:ext uri="{FF2B5EF4-FFF2-40B4-BE49-F238E27FC236}">
                <a16:creationId xmlns:a16="http://schemas.microsoft.com/office/drawing/2014/main" id="{42D05E49-CE22-B276-F900-BE7D51D3FC2B}"/>
              </a:ext>
            </a:extLst>
          </p:cNvPr>
          <p:cNvSpPr/>
          <p:nvPr/>
        </p:nvSpPr>
        <p:spPr>
          <a:xfrm>
            <a:off x="1600200" y="638584"/>
            <a:ext cx="15511150" cy="9381716"/>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 name="Freeform 3">
            <a:extLst>
              <a:ext uri="{FF2B5EF4-FFF2-40B4-BE49-F238E27FC236}">
                <a16:creationId xmlns:a16="http://schemas.microsoft.com/office/drawing/2014/main" id="{D59EEF3B-6731-F90A-FE40-67FB075717A3}"/>
              </a:ext>
            </a:extLst>
          </p:cNvPr>
          <p:cNvSpPr/>
          <p:nvPr/>
        </p:nvSpPr>
        <p:spPr>
          <a:xfrm rot="-1243308">
            <a:off x="933627" y="8079993"/>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TextBox 15">
            <a:extLst>
              <a:ext uri="{FF2B5EF4-FFF2-40B4-BE49-F238E27FC236}">
                <a16:creationId xmlns:a16="http://schemas.microsoft.com/office/drawing/2014/main" id="{8B4EAB91-11FF-9254-6E80-1D841E7599FD}"/>
              </a:ext>
            </a:extLst>
          </p:cNvPr>
          <p:cNvSpPr txBox="1"/>
          <p:nvPr/>
        </p:nvSpPr>
        <p:spPr>
          <a:xfrm>
            <a:off x="6542850" y="1256634"/>
            <a:ext cx="5736317" cy="707886"/>
          </a:xfrm>
          <a:prstGeom prst="rect">
            <a:avLst/>
          </a:prstGeom>
          <a:noFill/>
        </p:spPr>
        <p:txBody>
          <a:bodyPr wrap="square">
            <a:spAutoFit/>
          </a:bodyPr>
          <a:lstStyle/>
          <a:p>
            <a:r>
              <a:rPr lang="vi-VN" sz="4000" b="1" dirty="0"/>
              <a:t>KẾT QUẢ ĐẠT ĐƯỢC</a:t>
            </a:r>
            <a:endParaRPr lang="en-US" sz="4000" b="1" dirty="0"/>
          </a:p>
        </p:txBody>
      </p:sp>
      <p:sp>
        <p:nvSpPr>
          <p:cNvPr id="19" name="Freeform 6">
            <a:extLst>
              <a:ext uri="{FF2B5EF4-FFF2-40B4-BE49-F238E27FC236}">
                <a16:creationId xmlns:a16="http://schemas.microsoft.com/office/drawing/2014/main" id="{721740D2-00EF-91EF-B2B8-B262D3FBD219}"/>
              </a:ext>
            </a:extLst>
          </p:cNvPr>
          <p:cNvSpPr/>
          <p:nvPr/>
        </p:nvSpPr>
        <p:spPr>
          <a:xfrm rot="13171228" flipV="1">
            <a:off x="-3392504" y="-2591169"/>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0" name="Freeform 3">
            <a:extLst>
              <a:ext uri="{FF2B5EF4-FFF2-40B4-BE49-F238E27FC236}">
                <a16:creationId xmlns:a16="http://schemas.microsoft.com/office/drawing/2014/main" id="{97AB5DF8-8EAC-C26F-8AE1-E4EA08E866E7}"/>
              </a:ext>
            </a:extLst>
          </p:cNvPr>
          <p:cNvSpPr/>
          <p:nvPr/>
        </p:nvSpPr>
        <p:spPr>
          <a:xfrm rot="-1243308">
            <a:off x="15699933" y="-137906"/>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6">
            <a:extLst>
              <a:ext uri="{FF2B5EF4-FFF2-40B4-BE49-F238E27FC236}">
                <a16:creationId xmlns:a16="http://schemas.microsoft.com/office/drawing/2014/main" id="{105131D8-C61B-6211-325A-668C3B8A2D2B}"/>
              </a:ext>
            </a:extLst>
          </p:cNvPr>
          <p:cNvSpPr/>
          <p:nvPr/>
        </p:nvSpPr>
        <p:spPr>
          <a:xfrm rot="12617207" flipV="1">
            <a:off x="16052805" y="6378033"/>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8">
              <a:extLst>
                <a:ext uri="{96DAC541-7B7A-43D3-8B79-37D633B846F1}">
                  <asvg:svgBlip xmlns:asvg="http://schemas.microsoft.com/office/drawing/2016/SVG/main" r:embed="rId9"/>
                </a:ext>
              </a:extLst>
            </a:blip>
            <a:stretch>
              <a:fillRect/>
            </a:stretch>
          </a:blipFill>
        </p:spPr>
      </p:sp>
      <p:graphicFrame>
        <p:nvGraphicFramePr>
          <p:cNvPr id="11" name="Diagram 10">
            <a:extLst>
              <a:ext uri="{FF2B5EF4-FFF2-40B4-BE49-F238E27FC236}">
                <a16:creationId xmlns:a16="http://schemas.microsoft.com/office/drawing/2014/main" id="{C7F86C66-7649-3896-8E9E-9081CAAC82F2}"/>
              </a:ext>
            </a:extLst>
          </p:cNvPr>
          <p:cNvGraphicFramePr/>
          <p:nvPr>
            <p:extLst>
              <p:ext uri="{D42A27DB-BD31-4B8C-83A1-F6EECF244321}">
                <p14:modId xmlns:p14="http://schemas.microsoft.com/office/powerpoint/2010/main" val="3704337247"/>
              </p:ext>
            </p:extLst>
          </p:nvPr>
        </p:nvGraphicFramePr>
        <p:xfrm>
          <a:off x="2370835" y="2154920"/>
          <a:ext cx="13897345" cy="672079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8" name="Freeform 7">
            <a:extLst>
              <a:ext uri="{FF2B5EF4-FFF2-40B4-BE49-F238E27FC236}">
                <a16:creationId xmlns:a16="http://schemas.microsoft.com/office/drawing/2014/main" id="{EC1AFD34-7BE6-BDAA-110C-152562A568D7}"/>
              </a:ext>
            </a:extLst>
          </p:cNvPr>
          <p:cNvSpPr/>
          <p:nvPr/>
        </p:nvSpPr>
        <p:spPr>
          <a:xfrm rot="414587">
            <a:off x="207553" y="1170002"/>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 name="Freeform 5">
            <a:extLst>
              <a:ext uri="{FF2B5EF4-FFF2-40B4-BE49-F238E27FC236}">
                <a16:creationId xmlns:a16="http://schemas.microsoft.com/office/drawing/2014/main" id="{88C961EB-760C-E8E9-C24A-D13587348B0C}"/>
              </a:ext>
            </a:extLst>
          </p:cNvPr>
          <p:cNvSpPr/>
          <p:nvPr/>
        </p:nvSpPr>
        <p:spPr>
          <a:xfrm rot="491972">
            <a:off x="-730930" y="5935216"/>
            <a:ext cx="2670641" cy="2571875"/>
          </a:xfrm>
          <a:custGeom>
            <a:avLst/>
            <a:gdLst/>
            <a:ahLst/>
            <a:cxnLst/>
            <a:rect l="l" t="t" r="r" b="b"/>
            <a:pathLst>
              <a:path w="2751926" h="2726909">
                <a:moveTo>
                  <a:pt x="0" y="0"/>
                </a:moveTo>
                <a:lnTo>
                  <a:pt x="2751926" y="0"/>
                </a:lnTo>
                <a:lnTo>
                  <a:pt x="2751926" y="2726908"/>
                </a:lnTo>
                <a:lnTo>
                  <a:pt x="0" y="272690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Tree>
    <p:extLst>
      <p:ext uri="{BB962C8B-B14F-4D97-AF65-F5344CB8AC3E}">
        <p14:creationId xmlns:p14="http://schemas.microsoft.com/office/powerpoint/2010/main" val="1669543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a:extLst>
            <a:ext uri="{FF2B5EF4-FFF2-40B4-BE49-F238E27FC236}">
              <a16:creationId xmlns:a16="http://schemas.microsoft.com/office/drawing/2014/main" id="{ADB4E238-F82E-ECAD-343F-1E8D02F5AE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D21196-D5CA-A03C-27F1-A4FA53F988B2}"/>
              </a:ext>
            </a:extLst>
          </p:cNvPr>
          <p:cNvSpPr/>
          <p:nvPr/>
        </p:nvSpPr>
        <p:spPr>
          <a:xfrm rot="-10800000">
            <a:off x="-8530636" y="-1614385"/>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5879238A-A42E-B987-97DF-54D260A31CD1}"/>
              </a:ext>
            </a:extLst>
          </p:cNvPr>
          <p:cNvSpPr/>
          <p:nvPr/>
        </p:nvSpPr>
        <p:spPr>
          <a:xfrm rot="-10800000" flipH="1">
            <a:off x="17024360" y="-1606765"/>
            <a:ext cx="9559336" cy="13515771"/>
          </a:xfrm>
          <a:custGeom>
            <a:avLst/>
            <a:gdLst/>
            <a:ahLst/>
            <a:cxnLst/>
            <a:rect l="l" t="t" r="r" b="b"/>
            <a:pathLst>
              <a:path w="9559336" h="13515771">
                <a:moveTo>
                  <a:pt x="9559336" y="0"/>
                </a:moveTo>
                <a:lnTo>
                  <a:pt x="0" y="0"/>
                </a:lnTo>
                <a:lnTo>
                  <a:pt x="0" y="13515770"/>
                </a:lnTo>
                <a:lnTo>
                  <a:pt x="9559336" y="13515770"/>
                </a:lnTo>
                <a:lnTo>
                  <a:pt x="9559336"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4">
            <a:extLst>
              <a:ext uri="{FF2B5EF4-FFF2-40B4-BE49-F238E27FC236}">
                <a16:creationId xmlns:a16="http://schemas.microsoft.com/office/drawing/2014/main" id="{B21929C8-5C86-3BA2-8341-90E816B50D77}"/>
              </a:ext>
            </a:extLst>
          </p:cNvPr>
          <p:cNvSpPr/>
          <p:nvPr/>
        </p:nvSpPr>
        <p:spPr>
          <a:xfrm>
            <a:off x="1600200" y="342900"/>
            <a:ext cx="14858999" cy="9525000"/>
          </a:xfrm>
          <a:custGeom>
            <a:avLst/>
            <a:gdLst/>
            <a:ahLst/>
            <a:cxnLst/>
            <a:rect l="l" t="t" r="r" b="b"/>
            <a:pathLst>
              <a:path w="12786533" h="6625749">
                <a:moveTo>
                  <a:pt x="0" y="0"/>
                </a:moveTo>
                <a:lnTo>
                  <a:pt x="12786534" y="0"/>
                </a:lnTo>
                <a:lnTo>
                  <a:pt x="12786534" y="6625749"/>
                </a:lnTo>
                <a:lnTo>
                  <a:pt x="0" y="66257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8">
            <a:extLst>
              <a:ext uri="{FF2B5EF4-FFF2-40B4-BE49-F238E27FC236}">
                <a16:creationId xmlns:a16="http://schemas.microsoft.com/office/drawing/2014/main" id="{6CC6A5D9-87D8-393E-DA27-07B016CDB19E}"/>
              </a:ext>
            </a:extLst>
          </p:cNvPr>
          <p:cNvSpPr txBox="1"/>
          <p:nvPr/>
        </p:nvSpPr>
        <p:spPr>
          <a:xfrm>
            <a:off x="6743212" y="1125301"/>
            <a:ext cx="5739479" cy="707886"/>
          </a:xfrm>
          <a:prstGeom prst="rect">
            <a:avLst/>
          </a:prstGeom>
          <a:noFill/>
        </p:spPr>
        <p:txBody>
          <a:bodyPr wrap="square">
            <a:spAutoFit/>
          </a:bodyPr>
          <a:lstStyle/>
          <a:p>
            <a:r>
              <a:rPr lang="vi-VN" sz="4000" b="1" dirty="0"/>
              <a:t>ƯU VÀ NHƯỢC ĐIỂM</a:t>
            </a:r>
            <a:endParaRPr lang="en-US" sz="4000" b="1" dirty="0">
              <a:latin typeface="Arial" panose="020B0604020202020204" pitchFamily="34" charset="0"/>
              <a:cs typeface="Arial" panose="020B0604020202020204" pitchFamily="34" charset="0"/>
            </a:endParaRPr>
          </a:p>
        </p:txBody>
      </p:sp>
      <p:sp>
        <p:nvSpPr>
          <p:cNvPr id="5" name="Freeform 5">
            <a:extLst>
              <a:ext uri="{FF2B5EF4-FFF2-40B4-BE49-F238E27FC236}">
                <a16:creationId xmlns:a16="http://schemas.microsoft.com/office/drawing/2014/main" id="{A165CC69-C311-14A2-D7C4-26ED70C71A90}"/>
              </a:ext>
            </a:extLst>
          </p:cNvPr>
          <p:cNvSpPr/>
          <p:nvPr/>
        </p:nvSpPr>
        <p:spPr>
          <a:xfrm rot="-8428772" flipV="1">
            <a:off x="-1959782" y="-1812064"/>
            <a:ext cx="5127233" cy="6459507"/>
          </a:xfrm>
          <a:custGeom>
            <a:avLst/>
            <a:gdLst/>
            <a:ahLst/>
            <a:cxnLst/>
            <a:rect l="l" t="t" r="r" b="b"/>
            <a:pathLst>
              <a:path w="5127233" h="6459507">
                <a:moveTo>
                  <a:pt x="0" y="6459506"/>
                </a:moveTo>
                <a:lnTo>
                  <a:pt x="5127233" y="6459506"/>
                </a:lnTo>
                <a:lnTo>
                  <a:pt x="5127233" y="0"/>
                </a:lnTo>
                <a:lnTo>
                  <a:pt x="0" y="0"/>
                </a:lnTo>
                <a:lnTo>
                  <a:pt x="0" y="6459506"/>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Rectangle: Rounded Corners 15">
            <a:extLst>
              <a:ext uri="{FF2B5EF4-FFF2-40B4-BE49-F238E27FC236}">
                <a16:creationId xmlns:a16="http://schemas.microsoft.com/office/drawing/2014/main" id="{307BE224-50BA-859A-D233-9CC6D96035BE}"/>
              </a:ext>
            </a:extLst>
          </p:cNvPr>
          <p:cNvSpPr/>
          <p:nvPr/>
        </p:nvSpPr>
        <p:spPr>
          <a:xfrm>
            <a:off x="2197374" y="3177540"/>
            <a:ext cx="6832325" cy="4419600"/>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sp>
        <p:nvSpPr>
          <p:cNvPr id="4" name="Freeform 4">
            <a:extLst>
              <a:ext uri="{FF2B5EF4-FFF2-40B4-BE49-F238E27FC236}">
                <a16:creationId xmlns:a16="http://schemas.microsoft.com/office/drawing/2014/main" id="{C58A1E12-332D-3F6A-96E8-638D4309FEAC}"/>
              </a:ext>
            </a:extLst>
          </p:cNvPr>
          <p:cNvSpPr/>
          <p:nvPr/>
        </p:nvSpPr>
        <p:spPr>
          <a:xfrm rot="1049988">
            <a:off x="15330546" y="5307707"/>
            <a:ext cx="5127233" cy="6459507"/>
          </a:xfrm>
          <a:custGeom>
            <a:avLst/>
            <a:gdLst/>
            <a:ahLst/>
            <a:cxnLst/>
            <a:rect l="l" t="t" r="r" b="b"/>
            <a:pathLst>
              <a:path w="5127233" h="6459507">
                <a:moveTo>
                  <a:pt x="0" y="0"/>
                </a:moveTo>
                <a:lnTo>
                  <a:pt x="5127234" y="0"/>
                </a:lnTo>
                <a:lnTo>
                  <a:pt x="5127234" y="6459507"/>
                </a:lnTo>
                <a:lnTo>
                  <a:pt x="0" y="64595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Rectangle: Rounded Corners 16">
            <a:extLst>
              <a:ext uri="{FF2B5EF4-FFF2-40B4-BE49-F238E27FC236}">
                <a16:creationId xmlns:a16="http://schemas.microsoft.com/office/drawing/2014/main" id="{EE91C10C-5CD7-000E-CCA8-C77E82CA9EDB}"/>
              </a:ext>
            </a:extLst>
          </p:cNvPr>
          <p:cNvSpPr/>
          <p:nvPr/>
        </p:nvSpPr>
        <p:spPr>
          <a:xfrm>
            <a:off x="9337475" y="3177540"/>
            <a:ext cx="6429712" cy="441960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
        <p:nvSpPr>
          <p:cNvPr id="11" name="TextBox 10">
            <a:extLst>
              <a:ext uri="{FF2B5EF4-FFF2-40B4-BE49-F238E27FC236}">
                <a16:creationId xmlns:a16="http://schemas.microsoft.com/office/drawing/2014/main" id="{153787FA-952D-AD9C-658C-E23FAF292905}"/>
              </a:ext>
            </a:extLst>
          </p:cNvPr>
          <p:cNvSpPr txBox="1"/>
          <p:nvPr/>
        </p:nvSpPr>
        <p:spPr>
          <a:xfrm>
            <a:off x="2459304" y="4417095"/>
            <a:ext cx="6491752" cy="2246769"/>
          </a:xfrm>
          <a:prstGeom prst="rect">
            <a:avLst/>
          </a:prstGeom>
          <a:noFill/>
        </p:spPr>
        <p:txBody>
          <a:bodyPr wrap="square">
            <a:spAutoFit/>
          </a:bodyPr>
          <a:lstStyle/>
          <a:p>
            <a:pPr>
              <a:buNone/>
            </a:pPr>
            <a:r>
              <a:rPr lang="vi-VN" sz="2000" dirty="0">
                <a:effectLst/>
              </a:rPr>
              <a:t>Ưu điểm của hệ thống là giao diện đơn giản, trực quan, thân thiện với người dùng, phù hợp với nhu cầu của tác giả truyện online. Các chức năng được xây dựng sát với thực tế sáng tác, hỗ trợ quản lý thế giới ảo và mối quan hệ phức tạp hiệu quả, tích hợp AI hỗ trợ gợi ý/tạo mô tả tự động, giúp giảm sai sót và duy trì tính nhất quán tốt hơn so với quản lý thủ công.</a:t>
            </a:r>
          </a:p>
        </p:txBody>
      </p:sp>
      <p:sp>
        <p:nvSpPr>
          <p:cNvPr id="14" name="TextBox 13">
            <a:extLst>
              <a:ext uri="{FF2B5EF4-FFF2-40B4-BE49-F238E27FC236}">
                <a16:creationId xmlns:a16="http://schemas.microsoft.com/office/drawing/2014/main" id="{FD74E7AE-03D2-ADFA-0F7E-72C2130BF8F5}"/>
              </a:ext>
            </a:extLst>
          </p:cNvPr>
          <p:cNvSpPr txBox="1"/>
          <p:nvPr/>
        </p:nvSpPr>
        <p:spPr>
          <a:xfrm>
            <a:off x="10084969" y="4417095"/>
            <a:ext cx="5430145" cy="2862322"/>
          </a:xfrm>
          <a:prstGeom prst="rect">
            <a:avLst/>
          </a:prstGeom>
          <a:noFill/>
        </p:spPr>
        <p:txBody>
          <a:bodyPr wrap="square">
            <a:spAutoFit/>
          </a:bodyPr>
          <a:lstStyle/>
          <a:p>
            <a:pPr>
              <a:buNone/>
            </a:pPr>
            <a:r>
              <a:rPr lang="vi-VN" sz="2000" dirty="0">
                <a:effectLst/>
              </a:rPr>
              <a:t>Hệ thống vẫn còn một số hạn chế như chưa khai thác sâu sức mạnh của trí tuệ nhân tạo (chỉ hỗ trợ tạo/sửa mô tả cơ bản), trực quan hóa mối quan hệ còn đơn giản (chủ yếu dạng danh sách), chưa tích hợp đăng nhập mạng xã hội và các cơ chế bảo mật nâng cao (như 2FA), đồng thời hiệu năng chưa được tối ưu cho lượng dữ liệu lớn hoặc nhiều người dùng đồng thời.</a:t>
            </a:r>
          </a:p>
        </p:txBody>
      </p:sp>
      <p:sp>
        <p:nvSpPr>
          <p:cNvPr id="10" name="TextBox 9">
            <a:extLst>
              <a:ext uri="{FF2B5EF4-FFF2-40B4-BE49-F238E27FC236}">
                <a16:creationId xmlns:a16="http://schemas.microsoft.com/office/drawing/2014/main" id="{ED6157C8-BC06-BE6F-150D-38873F9D26CD}"/>
              </a:ext>
            </a:extLst>
          </p:cNvPr>
          <p:cNvSpPr txBox="1"/>
          <p:nvPr/>
        </p:nvSpPr>
        <p:spPr>
          <a:xfrm>
            <a:off x="11523278" y="3523161"/>
            <a:ext cx="2553526" cy="523220"/>
          </a:xfrm>
          <a:prstGeom prst="rect">
            <a:avLst/>
          </a:prstGeom>
          <a:noFill/>
        </p:spPr>
        <p:txBody>
          <a:bodyPr wrap="square">
            <a:spAutoFit/>
          </a:bodyPr>
          <a:lstStyle/>
          <a:p>
            <a:pPr lvl="0"/>
            <a:r>
              <a:rPr lang="vi-VN" sz="2800" b="1" dirty="0"/>
              <a:t>Nhược điểm</a:t>
            </a:r>
          </a:p>
        </p:txBody>
      </p:sp>
      <p:sp>
        <p:nvSpPr>
          <p:cNvPr id="9" name="TextBox 8">
            <a:extLst>
              <a:ext uri="{FF2B5EF4-FFF2-40B4-BE49-F238E27FC236}">
                <a16:creationId xmlns:a16="http://schemas.microsoft.com/office/drawing/2014/main" id="{3DBAFCC6-5EDA-75A5-A65F-BA22637F349E}"/>
              </a:ext>
            </a:extLst>
          </p:cNvPr>
          <p:cNvSpPr txBox="1"/>
          <p:nvPr/>
        </p:nvSpPr>
        <p:spPr>
          <a:xfrm>
            <a:off x="4519286" y="3525448"/>
            <a:ext cx="2028618" cy="523220"/>
          </a:xfrm>
          <a:prstGeom prst="rect">
            <a:avLst/>
          </a:prstGeom>
          <a:noFill/>
        </p:spPr>
        <p:txBody>
          <a:bodyPr wrap="square">
            <a:spAutoFit/>
          </a:bodyPr>
          <a:lstStyle/>
          <a:p>
            <a:pPr lvl="0"/>
            <a:r>
              <a:rPr lang="en-US" sz="2800" b="1" dirty="0" err="1"/>
              <a:t>Ưu</a:t>
            </a:r>
            <a:r>
              <a:rPr lang="vi-VN" sz="2800" b="1" dirty="0"/>
              <a:t> điểm</a:t>
            </a:r>
          </a:p>
        </p:txBody>
      </p:sp>
    </p:spTree>
    <p:extLst>
      <p:ext uri="{BB962C8B-B14F-4D97-AF65-F5344CB8AC3E}">
        <p14:creationId xmlns:p14="http://schemas.microsoft.com/office/powerpoint/2010/main" val="1741379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10800000">
            <a:off x="-6565617" y="-1614385"/>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rot="-1770339">
            <a:off x="2174684" y="376829"/>
            <a:ext cx="1638071" cy="1560635"/>
          </a:xfrm>
          <a:custGeom>
            <a:avLst/>
            <a:gdLst/>
            <a:ahLst/>
            <a:cxnLst/>
            <a:rect l="l" t="t" r="r" b="b"/>
            <a:pathLst>
              <a:path w="1638071" h="1560635">
                <a:moveTo>
                  <a:pt x="0" y="0"/>
                </a:moveTo>
                <a:lnTo>
                  <a:pt x="1638071" y="0"/>
                </a:lnTo>
                <a:lnTo>
                  <a:pt x="1638071" y="1560636"/>
                </a:lnTo>
                <a:lnTo>
                  <a:pt x="0" y="15606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2245019" flipH="1">
            <a:off x="15003758" y="7737129"/>
            <a:ext cx="4511084" cy="5683256"/>
          </a:xfrm>
          <a:custGeom>
            <a:avLst/>
            <a:gdLst/>
            <a:ahLst/>
            <a:cxnLst/>
            <a:rect l="l" t="t" r="r" b="b"/>
            <a:pathLst>
              <a:path w="4511084" h="5683256">
                <a:moveTo>
                  <a:pt x="4511084" y="0"/>
                </a:moveTo>
                <a:lnTo>
                  <a:pt x="0" y="0"/>
                </a:lnTo>
                <a:lnTo>
                  <a:pt x="0" y="5683256"/>
                </a:lnTo>
                <a:lnTo>
                  <a:pt x="4511084" y="5683256"/>
                </a:lnTo>
                <a:lnTo>
                  <a:pt x="451108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6200000">
            <a:off x="4187027" y="7374632"/>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TextBox 8">
            <a:extLst>
              <a:ext uri="{FF2B5EF4-FFF2-40B4-BE49-F238E27FC236}">
                <a16:creationId xmlns:a16="http://schemas.microsoft.com/office/drawing/2014/main" id="{EA2325EA-F6FC-9FE5-F82A-3F009F5D503E}"/>
              </a:ext>
            </a:extLst>
          </p:cNvPr>
          <p:cNvSpPr txBox="1"/>
          <p:nvPr/>
        </p:nvSpPr>
        <p:spPr>
          <a:xfrm>
            <a:off x="8019156" y="1157146"/>
            <a:ext cx="5544443" cy="707886"/>
          </a:xfrm>
          <a:prstGeom prst="rect">
            <a:avLst/>
          </a:prstGeom>
          <a:noFill/>
        </p:spPr>
        <p:txBody>
          <a:bodyPr wrap="square">
            <a:spAutoFit/>
          </a:bodyPr>
          <a:lstStyle/>
          <a:p>
            <a:r>
              <a:rPr lang="vi-VN" sz="4000" b="1" dirty="0"/>
              <a:t>HƯỚNG PHÁT TRIỂN</a:t>
            </a:r>
            <a:endParaRPr lang="en-US" sz="4000" b="1" dirty="0"/>
          </a:p>
        </p:txBody>
      </p:sp>
      <p:sp>
        <p:nvSpPr>
          <p:cNvPr id="4" name="TextBox 3">
            <a:extLst>
              <a:ext uri="{FF2B5EF4-FFF2-40B4-BE49-F238E27FC236}">
                <a16:creationId xmlns:a16="http://schemas.microsoft.com/office/drawing/2014/main" id="{C5058D08-34C2-309C-86C8-EF5519445101}"/>
              </a:ext>
            </a:extLst>
          </p:cNvPr>
          <p:cNvSpPr txBox="1"/>
          <p:nvPr/>
        </p:nvSpPr>
        <p:spPr>
          <a:xfrm>
            <a:off x="3956237" y="3038323"/>
            <a:ext cx="13670280" cy="4832092"/>
          </a:xfrm>
          <a:prstGeom prst="rect">
            <a:avLst/>
          </a:prstGeom>
          <a:noFill/>
        </p:spPr>
        <p:txBody>
          <a:bodyPr wrap="square">
            <a:spAutoFit/>
          </a:bodyPr>
          <a:lstStyle/>
          <a:p>
            <a:r>
              <a:rPr lang="vi-VN" sz="2800" dirty="0"/>
              <a:t>Trong tương lai, hệ thống có thể được mở rộng thêm các chức năng như:</a:t>
            </a:r>
            <a:endParaRPr lang="en-US" sz="2800" dirty="0"/>
          </a:p>
          <a:p>
            <a:r>
              <a:rPr lang="en-US" sz="2800" dirty="0"/>
              <a:t>  + </a:t>
            </a:r>
            <a:r>
              <a:rPr lang="vi-VN" sz="2800" dirty="0"/>
              <a:t>Tích hợp AI nâng cao (gợi ý tưởng cốt truyện, phân tích tính logic thế giới, tự động tạo/tóm tắt mô tả nhân vật)</a:t>
            </a:r>
            <a:r>
              <a:rPr lang="en-US" sz="2800" dirty="0"/>
              <a:t>.</a:t>
            </a:r>
          </a:p>
          <a:p>
            <a:r>
              <a:rPr lang="en-US" sz="2800" dirty="0"/>
              <a:t>  + </a:t>
            </a:r>
            <a:r>
              <a:rPr lang="vi-VN" sz="2800" dirty="0"/>
              <a:t>Trực quan hóa dữ liệu phức tạp (sơ đồ mối quan hệ nhân vật, dòng thời gian sự kiện, bản đồ thế giới)</a:t>
            </a:r>
            <a:r>
              <a:rPr lang="en-US" sz="2800" dirty="0"/>
              <a:t>.</a:t>
            </a:r>
          </a:p>
          <a:p>
            <a:r>
              <a:rPr lang="en-US" sz="2800" dirty="0"/>
              <a:t>  + </a:t>
            </a:r>
            <a:r>
              <a:rPr lang="vi-VN" sz="2800" dirty="0"/>
              <a:t>Tăng cường bảo mật (đăng nhập qua Google/Facebook, xác thực hai yếu tố 2FA)</a:t>
            </a:r>
            <a:r>
              <a:rPr lang="en-US" sz="2800" dirty="0"/>
              <a:t>.</a:t>
            </a:r>
          </a:p>
          <a:p>
            <a:r>
              <a:rPr lang="en-US" sz="2800" dirty="0"/>
              <a:t>  + </a:t>
            </a:r>
            <a:r>
              <a:rPr lang="vi-VN" sz="2800" dirty="0"/>
              <a:t>Xây dựng tính năng cộng đồng (chia sẻ thế giới truyện, thảo luận, hợp tác giữa các tác giả)</a:t>
            </a:r>
            <a:r>
              <a:rPr lang="en-US" sz="2800" dirty="0"/>
              <a:t>.</a:t>
            </a:r>
            <a:endParaRPr lang="vi-VN" sz="2800" dirty="0"/>
          </a:p>
          <a:p>
            <a:r>
              <a:rPr lang="vi-VN" sz="2800" dirty="0"/>
              <a:t>Ngoài ra, có thể phát triển phiên bản ứng dụng di động và tối ưu hiệu năng để hỗ trợ lượng dữ liệu lớn, tăng tính linh hoạt và tiện lợi, đáp ứng tốt hơn nhu cầu sáng tác lâu dài của cộng đồng tác giả truyện online.</a:t>
            </a:r>
            <a:endParaRPr lang="vi-VN" sz="2800" dirty="0">
              <a:effectL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0B7"/>
        </a:solidFill>
        <a:effectLst/>
      </p:bgPr>
    </p:bg>
    <p:spTree>
      <p:nvGrpSpPr>
        <p:cNvPr id="1" name=""/>
        <p:cNvGrpSpPr/>
        <p:nvPr/>
      </p:nvGrpSpPr>
      <p:grpSpPr>
        <a:xfrm>
          <a:off x="0" y="0"/>
          <a:ext cx="0" cy="0"/>
          <a:chOff x="0" y="0"/>
          <a:chExt cx="0" cy="0"/>
        </a:xfrm>
      </p:grpSpPr>
      <p:sp>
        <p:nvSpPr>
          <p:cNvPr id="2" name="Freeform 2"/>
          <p:cNvSpPr/>
          <p:nvPr/>
        </p:nvSpPr>
        <p:spPr>
          <a:xfrm rot="5400000">
            <a:off x="7627132" y="-98286"/>
            <a:ext cx="9559336" cy="13515771"/>
          </a:xfrm>
          <a:custGeom>
            <a:avLst/>
            <a:gdLst/>
            <a:ahLst/>
            <a:cxnLst/>
            <a:rect l="l" t="t" r="r" b="b"/>
            <a:pathLst>
              <a:path w="9559336" h="13515771">
                <a:moveTo>
                  <a:pt x="0" y="0"/>
                </a:moveTo>
                <a:lnTo>
                  <a:pt x="9559336" y="0"/>
                </a:lnTo>
                <a:lnTo>
                  <a:pt x="9559336" y="13515770"/>
                </a:lnTo>
                <a:lnTo>
                  <a:pt x="0" y="135157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449653" y="3058369"/>
            <a:ext cx="13774663" cy="5348700"/>
          </a:xfrm>
          <a:custGeom>
            <a:avLst/>
            <a:gdLst/>
            <a:ahLst/>
            <a:cxnLst/>
            <a:rect l="l" t="t" r="r" b="b"/>
            <a:pathLst>
              <a:path w="9949233" h="5155511">
                <a:moveTo>
                  <a:pt x="0" y="0"/>
                </a:moveTo>
                <a:lnTo>
                  <a:pt x="9949232" y="0"/>
                </a:lnTo>
                <a:lnTo>
                  <a:pt x="9949232" y="5155512"/>
                </a:lnTo>
                <a:lnTo>
                  <a:pt x="0" y="51555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4" name="Freeform 4"/>
          <p:cNvSpPr/>
          <p:nvPr/>
        </p:nvSpPr>
        <p:spPr>
          <a:xfrm>
            <a:off x="2685485" y="6346577"/>
            <a:ext cx="1154919" cy="1100323"/>
          </a:xfrm>
          <a:custGeom>
            <a:avLst/>
            <a:gdLst/>
            <a:ahLst/>
            <a:cxnLst/>
            <a:rect l="l" t="t" r="r" b="b"/>
            <a:pathLst>
              <a:path w="1154919" h="1100323">
                <a:moveTo>
                  <a:pt x="0" y="0"/>
                </a:moveTo>
                <a:lnTo>
                  <a:pt x="1154919" y="0"/>
                </a:lnTo>
                <a:lnTo>
                  <a:pt x="1154919" y="1100323"/>
                </a:lnTo>
                <a:lnTo>
                  <a:pt x="0" y="11003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5" name="Freeform 5"/>
          <p:cNvSpPr/>
          <p:nvPr/>
        </p:nvSpPr>
        <p:spPr>
          <a:xfrm rot="491972">
            <a:off x="14969216" y="351356"/>
            <a:ext cx="2751926" cy="2726909"/>
          </a:xfrm>
          <a:custGeom>
            <a:avLst/>
            <a:gdLst/>
            <a:ahLst/>
            <a:cxnLst/>
            <a:rect l="l" t="t" r="r" b="b"/>
            <a:pathLst>
              <a:path w="2751926" h="2726909">
                <a:moveTo>
                  <a:pt x="0" y="0"/>
                </a:moveTo>
                <a:lnTo>
                  <a:pt x="2751926" y="0"/>
                </a:lnTo>
                <a:lnTo>
                  <a:pt x="2751926" y="2726909"/>
                </a:lnTo>
                <a:lnTo>
                  <a:pt x="0" y="27269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1049988">
            <a:off x="-780442" y="8597639"/>
            <a:ext cx="4511084" cy="5683256"/>
          </a:xfrm>
          <a:custGeom>
            <a:avLst/>
            <a:gdLst/>
            <a:ahLst/>
            <a:cxnLst/>
            <a:rect l="l" t="t" r="r" b="b"/>
            <a:pathLst>
              <a:path w="4511084" h="5683256">
                <a:moveTo>
                  <a:pt x="0" y="0"/>
                </a:moveTo>
                <a:lnTo>
                  <a:pt x="4511085" y="0"/>
                </a:lnTo>
                <a:lnTo>
                  <a:pt x="4511085" y="5683256"/>
                </a:lnTo>
                <a:lnTo>
                  <a:pt x="0" y="568325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16448493">
            <a:off x="1410254" y="6105519"/>
            <a:ext cx="1833980" cy="3561126"/>
          </a:xfrm>
          <a:custGeom>
            <a:avLst/>
            <a:gdLst/>
            <a:ahLst/>
            <a:cxnLst/>
            <a:rect l="l" t="t" r="r" b="b"/>
            <a:pathLst>
              <a:path w="1833980" h="3561126">
                <a:moveTo>
                  <a:pt x="0" y="0"/>
                </a:moveTo>
                <a:lnTo>
                  <a:pt x="1833980" y="0"/>
                </a:lnTo>
                <a:lnTo>
                  <a:pt x="1833980" y="3561126"/>
                </a:lnTo>
                <a:lnTo>
                  <a:pt x="0" y="356112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rot="8677424">
            <a:off x="-1415710" y="-1848331"/>
            <a:ext cx="4047934" cy="4114800"/>
          </a:xfrm>
          <a:custGeom>
            <a:avLst/>
            <a:gdLst/>
            <a:ahLst/>
            <a:cxnLst/>
            <a:rect l="l" t="t" r="r" b="b"/>
            <a:pathLst>
              <a:path w="4047934" h="4114800">
                <a:moveTo>
                  <a:pt x="0" y="0"/>
                </a:moveTo>
                <a:lnTo>
                  <a:pt x="4047935" y="0"/>
                </a:lnTo>
                <a:lnTo>
                  <a:pt x="4047935"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3214570" y="-760755"/>
            <a:ext cx="2532333" cy="2953158"/>
          </a:xfrm>
          <a:custGeom>
            <a:avLst/>
            <a:gdLst/>
            <a:ahLst/>
            <a:cxnLst/>
            <a:rect l="l" t="t" r="r" b="b"/>
            <a:pathLst>
              <a:path w="2532333" h="2953158">
                <a:moveTo>
                  <a:pt x="0" y="0"/>
                </a:moveTo>
                <a:lnTo>
                  <a:pt x="2532333" y="0"/>
                </a:lnTo>
                <a:lnTo>
                  <a:pt x="2532333" y="2953158"/>
                </a:lnTo>
                <a:lnTo>
                  <a:pt x="0" y="295315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770339">
            <a:off x="1399569" y="3058369"/>
            <a:ext cx="1978504" cy="1884974"/>
          </a:xfrm>
          <a:custGeom>
            <a:avLst/>
            <a:gdLst/>
            <a:ahLst/>
            <a:cxnLst/>
            <a:rect l="l" t="t" r="r" b="b"/>
            <a:pathLst>
              <a:path w="1978504" h="1884974">
                <a:moveTo>
                  <a:pt x="0" y="0"/>
                </a:moveTo>
                <a:lnTo>
                  <a:pt x="1978503" y="0"/>
                </a:lnTo>
                <a:lnTo>
                  <a:pt x="1978503" y="1884975"/>
                </a:lnTo>
                <a:lnTo>
                  <a:pt x="0" y="188497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rot="2700000">
            <a:off x="11422985" y="418817"/>
            <a:ext cx="979994" cy="933667"/>
          </a:xfrm>
          <a:custGeom>
            <a:avLst/>
            <a:gdLst/>
            <a:ahLst/>
            <a:cxnLst/>
            <a:rect l="l" t="t" r="r" b="b"/>
            <a:pathLst>
              <a:path w="979994" h="933667">
                <a:moveTo>
                  <a:pt x="0" y="0"/>
                </a:moveTo>
                <a:lnTo>
                  <a:pt x="979993" y="0"/>
                </a:lnTo>
                <a:lnTo>
                  <a:pt x="979993" y="933667"/>
                </a:lnTo>
                <a:lnTo>
                  <a:pt x="0" y="93366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TextBox 13"/>
          <p:cNvSpPr txBox="1"/>
          <p:nvPr/>
        </p:nvSpPr>
        <p:spPr>
          <a:xfrm>
            <a:off x="3963236" y="3726969"/>
            <a:ext cx="12414600" cy="3240887"/>
          </a:xfrm>
          <a:prstGeom prst="rect">
            <a:avLst/>
          </a:prstGeom>
        </p:spPr>
        <p:txBody>
          <a:bodyPr wrap="square" lIns="0" tIns="0" rIns="0" bIns="0" rtlCol="0" anchor="t">
            <a:spAutoFit/>
          </a:bodyPr>
          <a:lstStyle/>
          <a:p>
            <a:pPr algn="ctr">
              <a:lnSpc>
                <a:spcPts val="13171"/>
              </a:lnSpc>
            </a:pPr>
            <a:r>
              <a:rPr lang="vi-VN" sz="9600" b="1" dirty="0"/>
              <a:t>Cảm ơn </a:t>
            </a:r>
            <a:endParaRPr lang="en-US" sz="9600" b="1" dirty="0"/>
          </a:p>
          <a:p>
            <a:pPr algn="ctr">
              <a:lnSpc>
                <a:spcPts val="13171"/>
              </a:lnSpc>
            </a:pPr>
            <a:r>
              <a:rPr lang="vi-VN" sz="9600" b="1" dirty="0"/>
              <a:t>thầy cô đã lắng nghe</a:t>
            </a:r>
            <a:endParaRPr lang="en-US" sz="14967" b="1" dirty="0">
              <a:solidFill>
                <a:srgbClr val="5D3E24"/>
              </a:solidFill>
              <a:latin typeface="Bryndan Writ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1049</Words>
  <Application>Microsoft Office PowerPoint</Application>
  <PresentationFormat>Custom</PresentationFormat>
  <Paragraphs>75</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Bryndan Write</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8-mau-powerpoint-thuyet-trinh-nhom</dc:title>
  <cp:lastModifiedBy>Administrator</cp:lastModifiedBy>
  <cp:revision>58</cp:revision>
  <dcterms:created xsi:type="dcterms:W3CDTF">2006-08-16T00:00:00Z</dcterms:created>
  <dcterms:modified xsi:type="dcterms:W3CDTF">2026-01-08T15:17:25Z</dcterms:modified>
  <dc:identifier>DAGGyK4YHvM</dc:identifier>
</cp:coreProperties>
</file>